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TCN-HMAC</a:t>
            </a:r>
          </a:p>
          <a:p>
            <a:pPr algn="ctr"/>
            <a:r>
              <a:rPr sz="2600">
                <a:solidFill>
                  <a:srgbClr val="CCCCCC"/>
                </a:solidFill>
              </a:rPr>
              <a:t>A Lightweight Deep Learning and Cryptographic
Hybrid Security Framework for SDN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3566160"/>
            <a:ext cx="301752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100">
                <a:solidFill>
                  <a:srgbClr val="CCCCCC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2200">
                <a:solidFill>
                  <a:srgbClr val="FFFFFF"/>
                </a:solidFill>
              </a:rPr>
              <a:t>Md. Mahamudul Hasan Zubayer</a:t>
            </a:r>
          </a:p>
          <a:p>
            <a:pPr algn="ctr"/>
            <a:r>
              <a:rPr sz="1600">
                <a:solidFill>
                  <a:srgbClr val="CCCCCC"/>
                </a:solidFill>
              </a:rPr>
              <a:t>ID: 2022000000006</a:t>
            </a:r>
          </a:p>
          <a:p>
            <a:pPr algn="ctr">
              <a:spcBef>
                <a:spcPts val="1600"/>
              </a:spcBef>
            </a:pPr>
            <a:r>
              <a:rPr sz="1600">
                <a:solidFill>
                  <a:srgbClr val="CCCCCC"/>
                </a:solidFill>
              </a:rPr>
              <a:t>Supervisor: Dr. Md. Maruf Hassan, Associate Professor</a:t>
            </a:r>
          </a:p>
          <a:p>
            <a:pPr algn="ctr"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Department Head: Shahriar Manzoor, Associate Professor</a:t>
            </a:r>
          </a:p>
          <a:p>
            <a:pPr algn="ctr">
              <a:spcBef>
                <a:spcPts val="1600"/>
              </a:spcBef>
            </a:pPr>
            <a:r>
              <a:rPr sz="1600">
                <a:solidFill>
                  <a:srgbClr val="CCCCCC"/>
                </a:solidFill>
              </a:rPr>
              <a:t>Department of Computer Science and Engineering
Southeast University</a:t>
            </a:r>
          </a:p>
        </p:txBody>
      </p:sp>
      <p:pic>
        <p:nvPicPr>
          <p:cNvPr id="5" name="Picture 4" descr="SEU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566928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defRPr sz="3200" b="1">
                <a:solidFill>
                  <a:srgbClr val="FFFFFF"/>
                </a:solidFill>
              </a:defRPr>
            </a:pPr>
            <a:r>
              <a:t>Presentation 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CCCC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400"/>
              </a:lnSpc>
              <a:spcAft>
                <a:spcPts val="400"/>
              </a:spcAft>
            </a:pPr>
            <a:r>
              <a:rPr sz="2200">
                <a:solidFill>
                  <a:srgbClr val="222222"/>
                </a:solidFill>
              </a:rPr>
              <a:t>● Background &amp; Motivation</a:t>
            </a:r>
          </a:p>
          <a:p>
            <a:pPr>
              <a:lnSpc>
                <a:spcPts val="3400"/>
              </a:lnSpc>
              <a:spcAft>
                <a:spcPts val="400"/>
              </a:spcAft>
            </a:pPr>
            <a:r>
              <a:rPr sz="2200">
                <a:solidFill>
                  <a:srgbClr val="222222"/>
                </a:solidFill>
              </a:rPr>
              <a:t>● Problem Statement</a:t>
            </a:r>
          </a:p>
          <a:p>
            <a:pPr>
              <a:lnSpc>
                <a:spcPts val="3400"/>
              </a:lnSpc>
              <a:spcAft>
                <a:spcPts val="400"/>
              </a:spcAft>
            </a:pPr>
            <a:r>
              <a:rPr sz="2200">
                <a:solidFill>
                  <a:srgbClr val="222222"/>
                </a:solidFill>
              </a:rPr>
              <a:t>● Research Objectives</a:t>
            </a:r>
          </a:p>
          <a:p>
            <a:pPr>
              <a:lnSpc>
                <a:spcPts val="3400"/>
              </a:lnSpc>
              <a:spcAft>
                <a:spcPts val="400"/>
              </a:spcAft>
            </a:pPr>
            <a:r>
              <a:rPr sz="2200">
                <a:solidFill>
                  <a:srgbClr val="222222"/>
                </a:solidFill>
              </a:rPr>
              <a:t>● Proposed Methodology — TCN-HMAC Framework</a:t>
            </a:r>
          </a:p>
          <a:p>
            <a:pPr>
              <a:lnSpc>
                <a:spcPts val="3400"/>
              </a:lnSpc>
              <a:spcAft>
                <a:spcPts val="400"/>
              </a:spcAft>
            </a:pPr>
            <a:r>
              <a:rPr sz="2200">
                <a:solidFill>
                  <a:srgbClr val="222222"/>
                </a:solidFill>
              </a:rPr>
              <a:t>● Dataset &amp; Preprocessing</a:t>
            </a:r>
          </a:p>
          <a:p>
            <a:pPr>
              <a:lnSpc>
                <a:spcPts val="3400"/>
              </a:lnSpc>
              <a:spcAft>
                <a:spcPts val="400"/>
              </a:spcAft>
            </a:pPr>
            <a:r>
              <a:rPr sz="2200">
                <a:solidFill>
                  <a:srgbClr val="222222"/>
                </a:solidFill>
              </a:rPr>
              <a:t>● TCN Model Architecture</a:t>
            </a:r>
          </a:p>
          <a:p>
            <a:pPr>
              <a:lnSpc>
                <a:spcPts val="3400"/>
              </a:lnSpc>
              <a:spcAft>
                <a:spcPts val="400"/>
              </a:spcAft>
            </a:pPr>
            <a:r>
              <a:rPr sz="2200">
                <a:solidFill>
                  <a:srgbClr val="222222"/>
                </a:solidFill>
              </a:rPr>
              <a:t>● Experimental Results &amp; Analysis</a:t>
            </a:r>
          </a:p>
          <a:p>
            <a:pPr>
              <a:lnSpc>
                <a:spcPts val="3400"/>
              </a:lnSpc>
              <a:spcAft>
                <a:spcPts val="400"/>
              </a:spcAft>
            </a:pPr>
            <a:r>
              <a:rPr sz="2200">
                <a:solidFill>
                  <a:srgbClr val="222222"/>
                </a:solidFill>
              </a:rPr>
              <a:t>● Comparative Analysis</a:t>
            </a:r>
          </a:p>
          <a:p>
            <a:pPr>
              <a:lnSpc>
                <a:spcPts val="3400"/>
              </a:lnSpc>
              <a:spcAft>
                <a:spcPts val="400"/>
              </a:spcAft>
            </a:pPr>
            <a:r>
              <a:rPr sz="2200">
                <a:solidFill>
                  <a:srgbClr val="222222"/>
                </a:solidFill>
              </a:rPr>
              <a:t>● Conclusion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defRPr sz="3200" b="1">
                <a:solidFill>
                  <a:srgbClr val="FFFFFF"/>
                </a:solidFill>
              </a:defRPr>
            </a:pPr>
            <a:r>
              <a:t>Background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CCCC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  <a:spcAft>
                <a:spcPts val="400"/>
              </a:spcAft>
            </a:pPr>
            <a:r>
              <a:rPr sz="1800" b="1">
                <a:solidFill>
                  <a:srgbClr val="222222"/>
                </a:solidFill>
              </a:rPr>
              <a:t>▸ SDN Architecture:</a:t>
            </a:r>
            <a:r>
              <a:rPr sz="1800">
                <a:solidFill>
                  <a:srgbClr val="222222"/>
                </a:solidFill>
              </a:rPr>
              <a:t> Separates control plane from data plane; a single controller orchestrates all switches via OpenFlow.</a:t>
            </a:r>
          </a:p>
          <a:p>
            <a:pPr>
              <a:lnSpc>
                <a:spcPts val="2700"/>
              </a:lnSpc>
              <a:spcAft>
                <a:spcPts val="400"/>
              </a:spcAft>
            </a:pPr>
            <a:r>
              <a:rPr sz="1800" b="1">
                <a:solidFill>
                  <a:srgbClr val="222222"/>
                </a:solidFill>
              </a:rPr>
              <a:t>▸ Centralization Risk:</a:t>
            </a:r>
            <a:r>
              <a:rPr sz="1800">
                <a:solidFill>
                  <a:srgbClr val="222222"/>
                </a:solidFill>
              </a:rPr>
              <a:t> The controller becomes a single point of failure—its compromise cascades across the entire network.</a:t>
            </a:r>
          </a:p>
          <a:p>
            <a:pPr>
              <a:lnSpc>
                <a:spcPts val="2700"/>
              </a:lnSpc>
              <a:spcAft>
                <a:spcPts val="400"/>
              </a:spcAft>
            </a:pPr>
            <a:r>
              <a:rPr sz="1800" b="1">
                <a:solidFill>
                  <a:srgbClr val="222222"/>
                </a:solidFill>
              </a:rPr>
              <a:t>▸ Control Channel Vulnerability:</a:t>
            </a:r>
            <a:r>
              <a:rPr sz="1800">
                <a:solidFill>
                  <a:srgbClr val="222222"/>
                </a:solidFill>
              </a:rPr>
              <a:t> OpenFlow messages (flow rules, stats) can be intercepted, modified, or injected if not properly secured.</a:t>
            </a:r>
          </a:p>
          <a:p>
            <a:pPr>
              <a:lnSpc>
                <a:spcPts val="2700"/>
              </a:lnSpc>
              <a:spcAft>
                <a:spcPts val="400"/>
              </a:spcAft>
            </a:pPr>
            <a:r>
              <a:rPr sz="1800" b="1">
                <a:solidFill>
                  <a:srgbClr val="222222"/>
                </a:solidFill>
              </a:rPr>
              <a:t>▸ Flow Rule Integrity Gap:</a:t>
            </a:r>
            <a:r>
              <a:rPr sz="1800">
                <a:solidFill>
                  <a:srgbClr val="222222"/>
                </a:solidFill>
              </a:rPr>
              <a:t> Switches blindly execute any received flow rule—no built-in mechanism to verify authenticity.</a:t>
            </a:r>
          </a:p>
          <a:p>
            <a:pPr>
              <a:lnSpc>
                <a:spcPts val="2700"/>
              </a:lnSpc>
              <a:spcAft>
                <a:spcPts val="400"/>
              </a:spcAft>
            </a:pPr>
            <a:r>
              <a:rPr sz="1800" b="1">
                <a:solidFill>
                  <a:srgbClr val="222222"/>
                </a:solidFill>
              </a:rPr>
              <a:t>▸ Growing Attack Sophistication:</a:t>
            </a:r>
            <a:r>
              <a:rPr sz="1800">
                <a:solidFill>
                  <a:srgbClr val="222222"/>
                </a:solidFill>
              </a:rPr>
              <a:t> Modern adversaries chain DDoS, MITM, probe, and brute-force attacks simultaneously.</a:t>
            </a:r>
          </a:p>
          <a:p>
            <a:pPr>
              <a:lnSpc>
                <a:spcPts val="2700"/>
              </a:lnSpc>
              <a:spcAft>
                <a:spcPts val="400"/>
              </a:spcAft>
            </a:pPr>
            <a:r>
              <a:rPr sz="1800" b="1">
                <a:solidFill>
                  <a:srgbClr val="222222"/>
                </a:solidFill>
              </a:rPr>
              <a:t>▸ TLS Limitations:</a:t>
            </a:r>
            <a:r>
              <a:rPr sz="1800">
                <a:solidFill>
                  <a:srgbClr val="222222"/>
                </a:solidFill>
              </a:rPr>
              <a:t> TLS protects transport only; it cannot verify flow rule semantics or stop a compromised controller.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defRPr sz="32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CCCC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  <a:spcAft>
                <a:spcPts val="400"/>
              </a:spcAft>
            </a:pPr>
            <a:r>
              <a:rPr sz="1800" b="1">
                <a:solidFill>
                  <a:srgbClr val="222222"/>
                </a:solidFill>
              </a:rPr>
              <a:t>▸ Detection without Verification:</a:t>
            </a:r>
            <a:r>
              <a:rPr sz="1800">
                <a:solidFill>
                  <a:srgbClr val="222222"/>
                </a:solidFill>
              </a:rPr>
              <a:t> ML/DL-based IDS can flag malicious traffic but cannot prevent tampered flow rules from being installed.</a:t>
            </a:r>
          </a:p>
          <a:p>
            <a:pPr>
              <a:lnSpc>
                <a:spcPts val="2700"/>
              </a:lnSpc>
              <a:spcAft>
                <a:spcPts val="400"/>
              </a:spcAft>
            </a:pPr>
            <a:r>
              <a:rPr sz="1800" b="1">
                <a:solidFill>
                  <a:srgbClr val="222222"/>
                </a:solidFill>
              </a:rPr>
              <a:t>▸ Verification without Detection:</a:t>
            </a:r>
            <a:r>
              <a:rPr sz="1800">
                <a:solidFill>
                  <a:srgbClr val="222222"/>
                </a:solidFill>
              </a:rPr>
              <a:t> Cryptographic mechanisms (HMAC, TLS) verify rule integrity but do not proactively detect intrusion attempts.</a:t>
            </a:r>
          </a:p>
          <a:p>
            <a:pPr>
              <a:lnSpc>
                <a:spcPts val="2700"/>
              </a:lnSpc>
              <a:spcAft>
                <a:spcPts val="400"/>
              </a:spcAft>
            </a:pPr>
            <a:r>
              <a:rPr sz="1800" b="1">
                <a:solidFill>
                  <a:srgbClr val="222222"/>
                </a:solidFill>
              </a:rPr>
              <a:t>▸ Excessive Computational Overhead:</a:t>
            </a:r>
            <a:r>
              <a:rPr sz="1800">
                <a:solidFill>
                  <a:srgbClr val="222222"/>
                </a:solidFill>
              </a:rPr>
              <a:t> Blockchain/PKI-based solutions introduce latency incompatible with real-time SDN operations.</a:t>
            </a:r>
          </a:p>
          <a:p>
            <a:pPr>
              <a:lnSpc>
                <a:spcPts val="2700"/>
              </a:lnSpc>
              <a:spcAft>
                <a:spcPts val="400"/>
              </a:spcAft>
            </a:pPr>
            <a:r>
              <a:rPr sz="1800" b="1">
                <a:solidFill>
                  <a:srgbClr val="222222"/>
                </a:solidFill>
              </a:rPr>
              <a:t>▸ Limited Attack Coverage:</a:t>
            </a:r>
            <a:r>
              <a:rPr sz="1800">
                <a:solidFill>
                  <a:srgbClr val="222222"/>
                </a:solidFill>
              </a:rPr>
              <a:t> Most solutions target a single attack vector (e.g., DDoS only), lacking multi-threat generality.</a:t>
            </a:r>
          </a:p>
          <a:p>
            <a:pPr>
              <a:lnSpc>
                <a:spcPts val="2700"/>
              </a:lnSpc>
              <a:spcAft>
                <a:spcPts val="400"/>
              </a:spcAft>
            </a:pPr>
            <a:r>
              <a:rPr sz="1800" b="1">
                <a:solidFill>
                  <a:srgbClr val="222222"/>
                </a:solidFill>
              </a:rPr>
              <a:t>▸ Deployment Complexity:</a:t>
            </a:r>
            <a:r>
              <a:rPr sz="1800">
                <a:solidFill>
                  <a:srgbClr val="222222"/>
                </a:solidFill>
              </a:rPr>
              <a:t> Solutions requiring OpenFlow protocol changes or custom switch firmware hinder real-world adoption.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5120640"/>
            <a:ext cx="9966960" cy="128016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3F72"/>
                </a:solidFill>
              </a:rPr>
              <a:t>Research Question: </a:t>
            </a:r>
            <a:r>
              <a:rPr sz="1500" i="1">
                <a:solidFill>
                  <a:srgbClr val="222222"/>
                </a:solidFill>
              </a:rPr>
              <a:t>How can we build a lightweight, deployable security framework for SDN that combines proactive multi-class intrusion detection with real-time cryptographic verification—without exceeding the latency budget that production networks demand?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defRPr sz="3200" b="1">
                <a:solidFill>
                  <a:srgbClr val="FFFFFF"/>
                </a:solidFill>
              </a:defRPr>
            </a:pPr>
            <a:r>
              <a:t>Research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CCCC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400"/>
              </a:spcAft>
            </a:pPr>
            <a:r>
              <a:rPr sz="1700" b="1">
                <a:solidFill>
                  <a:srgbClr val="222222"/>
                </a:solidFill>
              </a:rPr>
              <a:t>▸ RO1:</a:t>
            </a:r>
            <a:r>
              <a:rPr sz="1700">
                <a:solidFill>
                  <a:srgbClr val="222222"/>
                </a:solidFill>
              </a:rPr>
              <a:t> Design a TCN-based IDS achieving &gt;99% accuracy for binary classification of DDoS, MITM, Probe, and Brute-force attacks.</a:t>
            </a:r>
          </a:p>
          <a:p>
            <a:pPr>
              <a:lnSpc>
                <a:spcPts val="2400"/>
              </a:lnSpc>
              <a:spcAft>
                <a:spcPts val="400"/>
              </a:spcAft>
            </a:pPr>
            <a:r>
              <a:rPr sz="1700" b="1">
                <a:solidFill>
                  <a:srgbClr val="222222"/>
                </a:solidFill>
              </a:rPr>
              <a:t>▸ RO2:</a:t>
            </a:r>
            <a:r>
              <a:rPr sz="1700">
                <a:solidFill>
                  <a:srgbClr val="222222"/>
                </a:solidFill>
              </a:rPr>
              <a:t> Develop a preprocessing pipeline (Pearson correlation, PCA, class weighting) for the InSDN dataset.</a:t>
            </a:r>
          </a:p>
          <a:p>
            <a:pPr>
              <a:lnSpc>
                <a:spcPts val="2400"/>
              </a:lnSpc>
              <a:spcAft>
                <a:spcPts val="400"/>
              </a:spcAft>
            </a:pPr>
            <a:r>
              <a:rPr sz="1700" b="1">
                <a:solidFill>
                  <a:srgbClr val="222222"/>
                </a:solidFill>
              </a:rPr>
              <a:t>▸ RO3:</a:t>
            </a:r>
            <a:r>
              <a:rPr sz="1700">
                <a:solidFill>
                  <a:srgbClr val="222222"/>
                </a:solidFill>
              </a:rPr>
              <a:t> Train &amp; deploy the TCN model via TensorFlow/Keras with compact size suitable for resource-constrained environments.</a:t>
            </a:r>
          </a:p>
          <a:p>
            <a:pPr>
              <a:lnSpc>
                <a:spcPts val="2400"/>
              </a:lnSpc>
              <a:spcAft>
                <a:spcPts val="400"/>
              </a:spcAft>
            </a:pPr>
            <a:r>
              <a:rPr sz="1700" b="1">
                <a:solidFill>
                  <a:srgbClr val="222222"/>
                </a:solidFill>
              </a:rPr>
              <a:t>▸ RO4:</a:t>
            </a:r>
            <a:r>
              <a:rPr sz="1700">
                <a:solidFill>
                  <a:srgbClr val="222222"/>
                </a:solidFill>
              </a:rPr>
              <a:t> Design a lightweight auxiliary agent for HMAC-based flow rule verification and challenge–response controller authentication.</a:t>
            </a:r>
          </a:p>
          <a:p>
            <a:pPr>
              <a:lnSpc>
                <a:spcPts val="2400"/>
              </a:lnSpc>
              <a:spcAft>
                <a:spcPts val="400"/>
              </a:spcAft>
            </a:pPr>
            <a:r>
              <a:rPr sz="1700" b="1">
                <a:solidFill>
                  <a:srgbClr val="222222"/>
                </a:solidFill>
              </a:rPr>
              <a:t>▸ RO5:</a:t>
            </a:r>
            <a:r>
              <a:rPr sz="1700">
                <a:solidFill>
                  <a:srgbClr val="222222"/>
                </a:solidFill>
              </a:rPr>
              <a:t> Integrate the TCN-IDS and HMAC agent into a cohesive framework within the SDN control loop.</a:t>
            </a:r>
          </a:p>
          <a:p>
            <a:pPr>
              <a:lnSpc>
                <a:spcPts val="2400"/>
              </a:lnSpc>
              <a:spcAft>
                <a:spcPts val="400"/>
              </a:spcAft>
            </a:pPr>
            <a:r>
              <a:rPr sz="1700" b="1">
                <a:solidFill>
                  <a:srgbClr val="222222"/>
                </a:solidFill>
              </a:rPr>
              <a:t>▸ RO6:</a:t>
            </a:r>
            <a:r>
              <a:rPr sz="1700">
                <a:solidFill>
                  <a:srgbClr val="222222"/>
                </a:solidFill>
              </a:rPr>
              <a:t> Evaluate the framework on accuracy, precision, recall, F1-score, and computational overhead.</a:t>
            </a:r>
          </a:p>
          <a:p>
            <a:pPr>
              <a:lnSpc>
                <a:spcPts val="2400"/>
              </a:lnSpc>
              <a:spcAft>
                <a:spcPts val="400"/>
              </a:spcAft>
            </a:pPr>
            <a:r>
              <a:rPr sz="1700" b="1">
                <a:solidFill>
                  <a:srgbClr val="222222"/>
                </a:solidFill>
              </a:rPr>
              <a:t>▸ RO7:</a:t>
            </a:r>
            <a:r>
              <a:rPr sz="1700">
                <a:solidFill>
                  <a:srgbClr val="222222"/>
                </a:solidFill>
              </a:rPr>
              <a:t> Conduct comparative analysis against 15 existing models (LSTM, CNN-BiLSTM, Transformer, etc.).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defRPr sz="3200" b="1">
                <a:solidFill>
                  <a:srgbClr val="FFFFFF"/>
                </a:solidFill>
              </a:defRPr>
            </a:pPr>
            <a:r>
              <a:t>Proposed Methodology: TCN-HMAC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CCCC"/>
                </a:solidFill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  <a:spcAft>
                <a:spcPts val="400"/>
              </a:spcAft>
            </a:pPr>
            <a:r>
              <a:rPr sz="1600" b="1">
                <a:solidFill>
                  <a:srgbClr val="222222"/>
                </a:solidFill>
              </a:rPr>
              <a:t>▸ Layer 1 — TCN-IDS:</a:t>
            </a:r>
            <a:r>
              <a:rPr sz="1600">
                <a:solidFill>
                  <a:srgbClr val="222222"/>
                </a:solidFill>
              </a:rPr>
              <a:t> Deployed as a controller app; inspects flow statistics in real time; classifies traffic as benign or malicious.</a:t>
            </a:r>
          </a:p>
          <a:p>
            <a:pPr>
              <a:lnSpc>
                <a:spcPts val="2300"/>
              </a:lnSpc>
              <a:spcAft>
                <a:spcPts val="400"/>
              </a:spcAft>
            </a:pPr>
            <a:r>
              <a:rPr sz="1600" b="1">
                <a:solidFill>
                  <a:srgbClr val="222222"/>
                </a:solidFill>
              </a:rPr>
              <a:t>▸ Layer 2 — HMAC Agent:</a:t>
            </a:r>
            <a:r>
              <a:rPr sz="1600">
                <a:solidFill>
                  <a:srgbClr val="222222"/>
                </a:solidFill>
              </a:rPr>
              <a:t> Co-located subprocess; HMAC-SHA256 verification of every flow rule; challenge–response for controller authenticity.</a:t>
            </a:r>
          </a:p>
          <a:p>
            <a:pPr>
              <a:lnSpc>
                <a:spcPts val="2300"/>
              </a:lnSpc>
              <a:spcAft>
                <a:spcPts val="400"/>
              </a:spcAft>
            </a:pPr>
            <a:r>
              <a:rPr sz="1600" b="1">
                <a:solidFill>
                  <a:srgbClr val="222222"/>
                </a:solidFill>
              </a:rPr>
              <a:t>▸ Defense in Depth:</a:t>
            </a:r>
            <a:r>
              <a:rPr sz="1600">
                <a:solidFill>
                  <a:srgbClr val="222222"/>
                </a:solidFill>
              </a:rPr>
              <a:t> If an attack bypasses the TCN, the HMAC prevents rogue flow rules. If keys are compromised, the TCN detects malicious patterns.</a:t>
            </a:r>
          </a:p>
        </p:txBody>
      </p:sp>
      <p:pic>
        <p:nvPicPr>
          <p:cNvPr id="5" name="Picture 4" descr="system_architecture.draw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80160"/>
            <a:ext cx="5760720" cy="49226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44444"/>
                </a:solidFill>
              </a:rPr>
              <a:t>Key: No OpenFlow protocol modifications required. Runs entirely in software as a standard controller application + auxiliary agent.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defRPr sz="3200" b="1">
                <a:solidFill>
                  <a:srgbClr val="FFFFFF"/>
                </a:solidFill>
              </a:defRPr>
            </a:pPr>
            <a:r>
              <a:t>Dataset &amp; Preprocessing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CCCC"/>
                </a:solidFill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  <a:spcAft>
                <a:spcPts val="400"/>
              </a:spcAft>
            </a:pPr>
            <a:r>
              <a:rPr sz="1600" b="1">
                <a:solidFill>
                  <a:srgbClr val="222222"/>
                </a:solidFill>
              </a:rPr>
              <a:t>▸ InSDN Dataset:</a:t>
            </a:r>
            <a:r>
              <a:rPr sz="1600">
                <a:solidFill>
                  <a:srgbClr val="222222"/>
                </a:solidFill>
              </a:rPr>
              <a:t> Purpose-built for SDN IDS research; covers Normal, DDoS, MITM, Probe, Brute-force traffic.</a:t>
            </a:r>
          </a:p>
          <a:p>
            <a:pPr>
              <a:lnSpc>
                <a:spcPts val="2300"/>
              </a:lnSpc>
              <a:spcAft>
                <a:spcPts val="400"/>
              </a:spcAft>
            </a:pPr>
            <a:r>
              <a:rPr sz="1600" b="1">
                <a:solidFill>
                  <a:srgbClr val="222222"/>
                </a:solidFill>
              </a:rPr>
              <a:t>▸ Raw:</a:t>
            </a:r>
            <a:r>
              <a:rPr sz="1600">
                <a:solidFill>
                  <a:srgbClr val="222222"/>
                </a:solidFill>
              </a:rPr>
              <a:t> 343,889 samples × 84 features → Cleaned: 182,831 samples × 48 features.</a:t>
            </a:r>
          </a:p>
          <a:p>
            <a:pPr>
              <a:lnSpc>
                <a:spcPts val="2300"/>
              </a:lnSpc>
              <a:spcAft>
                <a:spcPts val="400"/>
              </a:spcAft>
            </a:pPr>
            <a:r>
              <a:rPr sz="1600" b="1">
                <a:solidFill>
                  <a:srgbClr val="222222"/>
                </a:solidFill>
              </a:rPr>
              <a:t>▸ Feature Selection:</a:t>
            </a:r>
            <a:r>
              <a:rPr sz="1600">
                <a:solidFill>
                  <a:srgbClr val="222222"/>
                </a:solidFill>
              </a:rPr>
              <a:t> Pearson correlation (|r| &gt; 0.95 removal) → removed redundant highly-correlated features.</a:t>
            </a:r>
          </a:p>
          <a:p>
            <a:pPr>
              <a:lnSpc>
                <a:spcPts val="2300"/>
              </a:lnSpc>
              <a:spcAft>
                <a:spcPts val="400"/>
              </a:spcAft>
            </a:pPr>
            <a:r>
              <a:rPr sz="1600" b="1">
                <a:solidFill>
                  <a:srgbClr val="222222"/>
                </a:solidFill>
              </a:rPr>
              <a:t>▸ Normalization:</a:t>
            </a:r>
            <a:r>
              <a:rPr sz="1600">
                <a:solidFill>
                  <a:srgbClr val="222222"/>
                </a:solidFill>
              </a:rPr>
              <a:t> StandardScaler (zero mean, unit variance) for stable gradient-based training.</a:t>
            </a:r>
          </a:p>
          <a:p>
            <a:pPr>
              <a:lnSpc>
                <a:spcPts val="2300"/>
              </a:lnSpc>
              <a:spcAft>
                <a:spcPts val="400"/>
              </a:spcAft>
            </a:pPr>
            <a:r>
              <a:rPr sz="1600" b="1">
                <a:solidFill>
                  <a:srgbClr val="222222"/>
                </a:solidFill>
              </a:rPr>
              <a:t>▸ Dimensionality Reduction:</a:t>
            </a:r>
            <a:r>
              <a:rPr sz="1600">
                <a:solidFill>
                  <a:srgbClr val="222222"/>
                </a:solidFill>
              </a:rPr>
              <a:t> PCA: 48 → 24 features, retaining 95.43% of total variance.</a:t>
            </a:r>
          </a:p>
          <a:p>
            <a:pPr>
              <a:lnSpc>
                <a:spcPts val="2300"/>
              </a:lnSpc>
              <a:spcAft>
                <a:spcPts val="400"/>
              </a:spcAft>
            </a:pPr>
            <a:r>
              <a:rPr sz="1600" b="1">
                <a:solidFill>
                  <a:srgbClr val="222222"/>
                </a:solidFill>
              </a:rPr>
              <a:t>▸ Class Weighting:</a:t>
            </a:r>
            <a:r>
              <a:rPr sz="1600">
                <a:solidFill>
                  <a:srgbClr val="222222"/>
                </a:solidFill>
              </a:rPr>
              <a:t> Inverse-frequency weighting to counter class imbalance (65% attack, 35% benign).</a:t>
            </a:r>
          </a:p>
          <a:p>
            <a:pPr>
              <a:lnSpc>
                <a:spcPts val="2300"/>
              </a:lnSpc>
              <a:spcAft>
                <a:spcPts val="400"/>
              </a:spcAft>
            </a:pPr>
            <a:r>
              <a:rPr sz="1600" b="1">
                <a:solidFill>
                  <a:srgbClr val="222222"/>
                </a:solidFill>
              </a:rPr>
              <a:t>▸ Train/Test Split:</a:t>
            </a:r>
            <a:r>
              <a:rPr sz="1600">
                <a:solidFill>
                  <a:srgbClr val="222222"/>
                </a:solidFill>
              </a:rPr>
              <a:t> 80/20 stratified split → 146,264 training / 36,567 test samples.</a:t>
            </a:r>
          </a:p>
        </p:txBody>
      </p:sp>
      <p:pic>
        <p:nvPicPr>
          <p:cNvPr id="5" name="Picture 4" descr="pca_explained_var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463040"/>
            <a:ext cx="4754880" cy="2085943"/>
          </a:xfrm>
          <a:prstGeom prst="rect">
            <a:avLst/>
          </a:prstGeom>
        </p:spPr>
      </p:pic>
      <p:pic>
        <p:nvPicPr>
          <p:cNvPr id="6" name="Picture 5" descr="eda_clas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4114800"/>
            <a:ext cx="4754880" cy="17347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defRPr sz="3200" b="1">
                <a:solidFill>
                  <a:srgbClr val="FFFFFF"/>
                </a:solidFill>
              </a:defRPr>
            </a:pPr>
            <a:r>
              <a:t>TCN Model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CCCC"/>
                </a:solidFill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400"/>
              </a:spcAft>
            </a:pPr>
            <a:r>
              <a:rPr sz="1700" b="1">
                <a:solidFill>
                  <a:srgbClr val="222222"/>
                </a:solidFill>
              </a:rPr>
              <a:t>▸ Input:</a:t>
            </a:r>
            <a:r>
              <a:rPr sz="1700">
                <a:solidFill>
                  <a:srgbClr val="222222"/>
                </a:solidFill>
              </a:rPr>
              <a:t> 24-dimensional PCA-transformed feature vector reshaped to (24, 1).</a:t>
            </a:r>
          </a:p>
          <a:p>
            <a:pPr>
              <a:lnSpc>
                <a:spcPts val="2400"/>
              </a:lnSpc>
              <a:spcAft>
                <a:spcPts val="400"/>
              </a:spcAft>
            </a:pPr>
            <a:r>
              <a:rPr sz="1700" b="1">
                <a:solidFill>
                  <a:srgbClr val="222222"/>
                </a:solidFill>
              </a:rPr>
              <a:t>▸ 6 Residual Blocks:</a:t>
            </a:r>
            <a:r>
              <a:rPr sz="1700">
                <a:solidFill>
                  <a:srgbClr val="222222"/>
                </a:solidFill>
              </a:rPr>
              <a:t> Dilated causal Conv1D layers with dilation rates [1, 2, 4, 8, 16, 32], 64 filters, kernel size 3.</a:t>
            </a:r>
          </a:p>
          <a:p>
            <a:pPr>
              <a:lnSpc>
                <a:spcPts val="2400"/>
              </a:lnSpc>
              <a:spcAft>
                <a:spcPts val="400"/>
              </a:spcAft>
            </a:pPr>
            <a:r>
              <a:rPr sz="1700" b="1">
                <a:solidFill>
                  <a:srgbClr val="222222"/>
                </a:solidFill>
              </a:rPr>
              <a:t>▸ Regularization:</a:t>
            </a:r>
            <a:r>
              <a:rPr sz="1700">
                <a:solidFill>
                  <a:srgbClr val="222222"/>
                </a:solidFill>
              </a:rPr>
              <a:t> Batch Normalization + Spatial Dropout (20%) in each block.</a:t>
            </a:r>
          </a:p>
          <a:p>
            <a:pPr>
              <a:lnSpc>
                <a:spcPts val="2400"/>
              </a:lnSpc>
              <a:spcAft>
                <a:spcPts val="400"/>
              </a:spcAft>
            </a:pPr>
            <a:r>
              <a:rPr sz="1700" b="1">
                <a:solidFill>
                  <a:srgbClr val="222222"/>
                </a:solidFill>
              </a:rPr>
              <a:t>▸ Pooling:</a:t>
            </a:r>
            <a:r>
              <a:rPr sz="1700">
                <a:solidFill>
                  <a:srgbClr val="222222"/>
                </a:solidFill>
              </a:rPr>
              <a:t> Global Average Pooling to aggregate temporal features into a fixed-length vector.</a:t>
            </a:r>
          </a:p>
          <a:p>
            <a:pPr>
              <a:lnSpc>
                <a:spcPts val="2400"/>
              </a:lnSpc>
              <a:spcAft>
                <a:spcPts val="400"/>
              </a:spcAft>
            </a:pPr>
            <a:r>
              <a:rPr sz="1700" b="1">
                <a:solidFill>
                  <a:srgbClr val="222222"/>
                </a:solidFill>
              </a:rPr>
              <a:t>▸ Classification Head:</a:t>
            </a:r>
            <a:r>
              <a:rPr sz="1700">
                <a:solidFill>
                  <a:srgbClr val="222222"/>
                </a:solidFill>
              </a:rPr>
              <a:t> Dense(64, ReLU) → Dropout(30%) → Dense(1, Sigmoid) for binary output.</a:t>
            </a:r>
          </a:p>
          <a:p>
            <a:pPr>
              <a:lnSpc>
                <a:spcPts val="2400"/>
              </a:lnSpc>
              <a:spcAft>
                <a:spcPts val="400"/>
              </a:spcAft>
            </a:pPr>
            <a:r>
              <a:rPr sz="1700" b="1">
                <a:solidFill>
                  <a:srgbClr val="222222"/>
                </a:solidFill>
              </a:rPr>
              <a:t>▸ Total Parameters:</a:t>
            </a:r>
            <a:r>
              <a:rPr sz="1700">
                <a:solidFill>
                  <a:srgbClr val="222222"/>
                </a:solidFill>
              </a:rPr>
              <a:t> 156,737 (612 KB model size)—compact enough for edge deployment.</a:t>
            </a:r>
          </a:p>
          <a:p>
            <a:pPr>
              <a:lnSpc>
                <a:spcPts val="2400"/>
              </a:lnSpc>
              <a:spcAft>
                <a:spcPts val="400"/>
              </a:spcAft>
            </a:pPr>
            <a:r>
              <a:rPr sz="1700" b="1">
                <a:solidFill>
                  <a:srgbClr val="222222"/>
                </a:solidFill>
              </a:rPr>
              <a:t>▸ Training:</a:t>
            </a:r>
            <a:r>
              <a:rPr sz="1700">
                <a:solidFill>
                  <a:srgbClr val="222222"/>
                </a:solidFill>
              </a:rPr>
              <a:t> Adam optimizer, lr=10⁻³ with ReduceLROnPlateau; binary cross-entropy; ~30 epochs (~5 min on T4 GPU).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303520"/>
            <a:ext cx="10515600" cy="1097280"/>
          </a:xfrm>
          <a:prstGeom prst="roundRect">
            <a:avLst/>
          </a:prstGeom>
          <a:solidFill>
            <a:srgbClr val="E8F8F0"/>
          </a:solidFill>
          <a:ln w="19050">
            <a:solidFill>
              <a:srgbClr val="00B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B36B"/>
                </a:solidFill>
              </a:rPr>
              <a:t>Why TCN? </a:t>
            </a:r>
            <a:r>
              <a:rPr sz="1400">
                <a:solidFill>
                  <a:srgbClr val="222222"/>
                </a:solidFill>
              </a:rPr>
              <a:t>Fully parallelizable inference (unlike sequential LSTM/GRU) • Stable gradients via residual connections • Controllable receptive field via dilation • 5–30× smaller than comparable DL models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defRPr sz="3200" b="1">
                <a:solidFill>
                  <a:srgbClr val="FFFFFF"/>
                </a:solidFill>
              </a:defRPr>
            </a:pPr>
            <a:r>
              <a:t>Experimental Results</a:t>
            </a:r>
          </a:p>
          <a:p>
            <a:pPr algn="l">
              <a:defRPr sz="1600">
                <a:solidFill>
                  <a:srgbClr val="CCCCCC"/>
                </a:solidFill>
              </a:defRPr>
            </a:pPr>
            <a:r>
              <a:t>Test Set: 36,567 samples (20% held-out, never seen during training)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CCCC"/>
                </a:solidFill>
              </a:defRPr>
            </a:pPr>
            <a:r>
              <a:t>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6916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00B36B"/>
                </a:solidFill>
              </a:rPr>
              <a:t>99.85%</a:t>
            </a:r>
          </a:p>
          <a:p>
            <a:pPr algn="ctr"/>
            <a:r>
              <a:rPr sz="1300">
                <a:solidFill>
                  <a:srgbClr val="444444"/>
                </a:solidFill>
              </a:rPr>
              <a:t>Accuracy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13432" y="1371600"/>
            <a:ext cx="16916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00B36B"/>
                </a:solidFill>
              </a:rPr>
              <a:t>99.80%</a:t>
            </a:r>
          </a:p>
          <a:p>
            <a:pPr algn="ctr"/>
            <a:r>
              <a:rPr sz="1300">
                <a:solidFill>
                  <a:srgbClr val="444444"/>
                </a:solidFill>
              </a:rPr>
              <a:t>Precision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9664" y="1371600"/>
            <a:ext cx="16916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00B36B"/>
                </a:solidFill>
              </a:rPr>
              <a:t>99.97%</a:t>
            </a:r>
          </a:p>
          <a:p>
            <a:pPr algn="ctr"/>
            <a:r>
              <a:rPr sz="1300">
                <a:solidFill>
                  <a:srgbClr val="444444"/>
                </a:solidFill>
              </a:rPr>
              <a:t>Recall / DR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25896" y="1371600"/>
            <a:ext cx="16916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00B36B"/>
                </a:solidFill>
              </a:rPr>
              <a:t>99.89%</a:t>
            </a:r>
          </a:p>
          <a:p>
            <a:pPr algn="ctr"/>
            <a:r>
              <a:rPr sz="1300">
                <a:solidFill>
                  <a:srgbClr val="444444"/>
                </a:solidFill>
              </a:rPr>
              <a:t>F1-Score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82128" y="1371600"/>
            <a:ext cx="16916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00B36B"/>
                </a:solidFill>
              </a:rPr>
              <a:t>0.9999</a:t>
            </a:r>
          </a:p>
          <a:p>
            <a:pPr algn="ctr"/>
            <a:r>
              <a:rPr sz="1300">
                <a:solidFill>
                  <a:srgbClr val="444444"/>
                </a:solidFill>
              </a:rPr>
              <a:t>AUC-ROC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38360" y="1371600"/>
            <a:ext cx="16916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E04F5F"/>
                </a:solidFill>
              </a:rPr>
              <a:t>0.37%</a:t>
            </a:r>
          </a:p>
          <a:p>
            <a:pPr algn="ctr"/>
            <a:r>
              <a:rPr sz="1300">
                <a:solidFill>
                  <a:srgbClr val="444444"/>
                </a:solidFill>
              </a:rPr>
              <a:t>False Alarm Rate</a:t>
            </a:r>
          </a:p>
        </p:txBody>
      </p:sp>
      <p:pic>
        <p:nvPicPr>
          <p:cNvPr id="10" name="Picture 9" descr="plot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834640"/>
            <a:ext cx="3559815" cy="3474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0" y="3017520"/>
            <a:ext cx="6858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  <a:spcAft>
                <a:spcPts val="400"/>
              </a:spcAft>
            </a:pPr>
            <a:r>
              <a:rPr sz="1700" b="1">
                <a:solidFill>
                  <a:srgbClr val="222222"/>
                </a:solidFill>
              </a:rPr>
              <a:t>▸ 23,737 / 23,744</a:t>
            </a:r>
            <a:r>
              <a:rPr sz="1700">
                <a:solidFill>
                  <a:srgbClr val="222222"/>
                </a:solidFill>
              </a:rPr>
              <a:t> attacks correctly detected (only 7 missed).</a:t>
            </a:r>
          </a:p>
          <a:p>
            <a:pPr>
              <a:lnSpc>
                <a:spcPts val="2700"/>
              </a:lnSpc>
              <a:spcAft>
                <a:spcPts val="400"/>
              </a:spcAft>
            </a:pPr>
            <a:r>
              <a:rPr sz="1700" b="1">
                <a:solidFill>
                  <a:srgbClr val="222222"/>
                </a:solidFill>
              </a:rPr>
              <a:t>▸ 47 / 12,823</a:t>
            </a:r>
            <a:r>
              <a:rPr sz="1700">
                <a:solidFill>
                  <a:srgbClr val="222222"/>
                </a:solidFill>
              </a:rPr>
              <a:t> benign flows false-alarmed (0.37% rate).</a:t>
            </a:r>
          </a:p>
          <a:p>
            <a:pPr>
              <a:lnSpc>
                <a:spcPts val="2700"/>
              </a:lnSpc>
              <a:spcAft>
                <a:spcPts val="400"/>
              </a:spcAft>
            </a:pPr>
            <a:r>
              <a:rPr sz="1700" b="1">
                <a:solidFill>
                  <a:srgbClr val="222222"/>
                </a:solidFill>
              </a:rPr>
              <a:t>▸ Error Bias:</a:t>
            </a:r>
            <a:r>
              <a:rPr sz="1700">
                <a:solidFill>
                  <a:srgbClr val="222222"/>
                </a:solidFill>
              </a:rPr>
              <a:t> 87% of errors are FP (conservative); only 13% are FN.</a:t>
            </a:r>
          </a:p>
          <a:p>
            <a:pPr>
              <a:lnSpc>
                <a:spcPts val="2700"/>
              </a:lnSpc>
              <a:spcAft>
                <a:spcPts val="400"/>
              </a:spcAft>
            </a:pPr>
            <a:r>
              <a:rPr sz="1700" b="1">
                <a:solidFill>
                  <a:srgbClr val="222222"/>
                </a:solidFill>
              </a:rPr>
              <a:t>▸ Operational:</a:t>
            </a:r>
            <a:r>
              <a:rPr sz="1700">
                <a:solidFill>
                  <a:srgbClr val="222222"/>
                </a:solidFill>
              </a:rPr>
              <a:t> ~1 false alarm per 270 benign flows—manageable with whitelisting.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defRPr sz="3200" b="1">
                <a:solidFill>
                  <a:srgbClr val="FFFFFF"/>
                </a:solidFill>
              </a:defRPr>
            </a:pPr>
            <a:r>
              <a:t>Training Convergence &amp; ROC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CCCC"/>
                </a:solidFill>
              </a:defRPr>
            </a:pPr>
            <a:r>
              <a:t>10</a:t>
            </a:r>
          </a:p>
        </p:txBody>
      </p:sp>
      <p:pic>
        <p:nvPicPr>
          <p:cNvPr id="4" name="Picture 3" descr="plot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3749039" cy="2325353"/>
          </a:xfrm>
          <a:prstGeom prst="rect">
            <a:avLst/>
          </a:prstGeom>
        </p:spPr>
      </p:pic>
      <p:pic>
        <p:nvPicPr>
          <p:cNvPr id="5" name="Picture 4" descr="plot_l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280160"/>
            <a:ext cx="3749039" cy="2325353"/>
          </a:xfrm>
          <a:prstGeom prst="rect">
            <a:avLst/>
          </a:prstGeom>
        </p:spPr>
      </p:pic>
      <p:pic>
        <p:nvPicPr>
          <p:cNvPr id="6" name="Picture 5" descr="plot_roc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280160"/>
            <a:ext cx="3749039" cy="3205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0292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400"/>
              </a:spcAft>
            </a:pPr>
            <a:r>
              <a:rPr sz="1600">
                <a:solidFill>
                  <a:srgbClr val="00B36B"/>
                </a:solidFill>
              </a:rPr>
              <a:t>✓ Converges in ~30 epochs (5 min on T4 GPU)</a:t>
            </a:r>
          </a:p>
          <a:p>
            <a:pPr>
              <a:lnSpc>
                <a:spcPts val="2400"/>
              </a:lnSpc>
              <a:spcAft>
                <a:spcPts val="400"/>
              </a:spcAft>
            </a:pPr>
            <a:r>
              <a:rPr sz="1600">
                <a:solidFill>
                  <a:srgbClr val="00B36B"/>
                </a:solidFill>
              </a:rPr>
              <a:t>✓ Train/Val curves align closely → no overfitting</a:t>
            </a:r>
          </a:p>
          <a:p>
            <a:pPr>
              <a:lnSpc>
                <a:spcPts val="2400"/>
              </a:lnSpc>
              <a:spcAft>
                <a:spcPts val="400"/>
              </a:spcAft>
            </a:pPr>
            <a:r>
              <a:rPr sz="1600">
                <a:solidFill>
                  <a:srgbClr val="00B36B"/>
                </a:solidFill>
              </a:rPr>
              <a:t>✓ AUC-ROC = 0.9999 → near-perfect discrimination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defRPr sz="3200" b="1">
                <a:solidFill>
                  <a:srgbClr val="FFFFFF"/>
                </a:solidFill>
              </a:defRPr>
            </a:pPr>
            <a:r>
              <a:t>HMAC Verification Overhead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CCCC"/>
                </a:solidFill>
              </a:defRPr>
            </a:pPr>
            <a:r>
              <a:t>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19202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007ACC"/>
                </a:solidFill>
              </a:rPr>
              <a:t>~2 µs</a:t>
            </a:r>
          </a:p>
          <a:p>
            <a:pPr algn="ctr"/>
            <a:r>
              <a:rPr sz="1300">
                <a:solidFill>
                  <a:srgbClr val="444444"/>
                </a:solidFill>
              </a:rPr>
              <a:t>Per-Message
HMAC Compute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61488" y="1463040"/>
            <a:ext cx="19202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007ACC"/>
                </a:solidFill>
              </a:rPr>
              <a:t>0.7 ms</a:t>
            </a:r>
          </a:p>
          <a:p>
            <a:pPr algn="ctr"/>
            <a:r>
              <a:rPr sz="1300">
                <a:solidFill>
                  <a:srgbClr val="444444"/>
                </a:solidFill>
              </a:rPr>
              <a:t>Total Control
Latency Added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82896" y="1463040"/>
            <a:ext cx="19202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007ACC"/>
                </a:solidFill>
              </a:rPr>
              <a:t>4.4%</a:t>
            </a:r>
          </a:p>
          <a:p>
            <a:pPr algn="ctr"/>
            <a:r>
              <a:rPr sz="1300">
                <a:solidFill>
                  <a:srgbClr val="444444"/>
                </a:solidFill>
              </a:rPr>
              <a:t>CPU Usage
Overhead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04304" y="1463040"/>
            <a:ext cx="19202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007ACC"/>
                </a:solidFill>
              </a:rPr>
              <a:t>13.7 MB</a:t>
            </a:r>
          </a:p>
          <a:p>
            <a:pPr algn="ctr"/>
            <a:r>
              <a:rPr sz="1300">
                <a:solidFill>
                  <a:srgbClr val="444444"/>
                </a:solidFill>
              </a:rPr>
              <a:t>RAM
Overhead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25712" y="1463040"/>
            <a:ext cx="19202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007ACC"/>
                </a:solidFill>
              </a:rPr>
              <a:t>32 B</a:t>
            </a:r>
          </a:p>
          <a:p>
            <a:pPr algn="ctr"/>
            <a:r>
              <a:rPr sz="1300">
                <a:solidFill>
                  <a:srgbClr val="444444"/>
                </a:solidFill>
              </a:rPr>
              <a:t>Per-Message
Size Overhead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  <a:spcAft>
                <a:spcPts val="400"/>
              </a:spcAft>
            </a:pPr>
            <a:r>
              <a:rPr sz="1700" b="1">
                <a:solidFill>
                  <a:srgbClr val="222222"/>
                </a:solidFill>
              </a:rPr>
              <a:t>▸ Message Integrity:</a:t>
            </a:r>
            <a:r>
              <a:rPr sz="1700">
                <a:solidFill>
                  <a:srgbClr val="222222"/>
                </a:solidFill>
              </a:rPr>
              <a:t> HMAC-SHA256 tag appended to every Flow_Mod message; switch-side verification via shadow table.</a:t>
            </a:r>
          </a:p>
          <a:p>
            <a:pPr>
              <a:lnSpc>
                <a:spcPts val="2500"/>
              </a:lnSpc>
              <a:spcAft>
                <a:spcPts val="400"/>
              </a:spcAft>
            </a:pPr>
            <a:r>
              <a:rPr sz="1700" b="1">
                <a:solidFill>
                  <a:srgbClr val="222222"/>
                </a:solidFill>
              </a:rPr>
              <a:t>▸ Replay Prevention:</a:t>
            </a:r>
            <a:r>
              <a:rPr sz="1700">
                <a:solidFill>
                  <a:srgbClr val="222222"/>
                </a:solidFill>
              </a:rPr>
              <a:t> Sequence numbers + timestamps reject replayed or out-of-order messages.</a:t>
            </a:r>
          </a:p>
          <a:p>
            <a:pPr>
              <a:lnSpc>
                <a:spcPts val="2500"/>
              </a:lnSpc>
              <a:spcAft>
                <a:spcPts val="400"/>
              </a:spcAft>
            </a:pPr>
            <a:r>
              <a:rPr sz="1700" b="1">
                <a:solidFill>
                  <a:srgbClr val="222222"/>
                </a:solidFill>
              </a:rPr>
              <a:t>▸ Controller Authentication:</a:t>
            </a:r>
            <a:r>
              <a:rPr sz="1700">
                <a:solidFill>
                  <a:srgbClr val="222222"/>
                </a:solidFill>
              </a:rPr>
              <a:t> Periodic challenge–response protocol confirms the controller’s identity.</a:t>
            </a:r>
          </a:p>
          <a:p>
            <a:pPr>
              <a:lnSpc>
                <a:spcPts val="2500"/>
              </a:lnSpc>
              <a:spcAft>
                <a:spcPts val="400"/>
              </a:spcAft>
            </a:pPr>
            <a:r>
              <a:rPr sz="1700" b="1">
                <a:solidFill>
                  <a:srgbClr val="222222"/>
                </a:solidFill>
              </a:rPr>
              <a:t>▸ Key Management:</a:t>
            </a:r>
            <a:r>
              <a:rPr sz="1700">
                <a:solidFill>
                  <a:srgbClr val="222222"/>
                </a:solidFill>
              </a:rPr>
              <a:t> Pre-shared symmetric keys with planned rotation; no PKI infrastructure required.</a:t>
            </a:r>
          </a:p>
          <a:p>
            <a:pPr>
              <a:lnSpc>
                <a:spcPts val="2500"/>
              </a:lnSpc>
              <a:spcAft>
                <a:spcPts val="400"/>
              </a:spcAft>
            </a:pPr>
            <a:r>
              <a:rPr sz="1700" b="1">
                <a:solidFill>
                  <a:srgbClr val="222222"/>
                </a:solidFill>
              </a:rPr>
              <a:t>▸ Negligible Impact:</a:t>
            </a:r>
            <a:r>
              <a:rPr sz="1700">
                <a:solidFill>
                  <a:srgbClr val="222222"/>
                </a:solidFill>
              </a:rPr>
              <a:t> Combined TCN inference + HMAC verification &lt; 1 ms per flow—well within real-time budgets.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defRPr sz="3200" b="1">
                <a:solidFill>
                  <a:srgbClr val="FFFFFF"/>
                </a:solidFill>
              </a:defRPr>
            </a:pPr>
            <a:r>
              <a:t>Comparative Analysis</a:t>
            </a:r>
          </a:p>
          <a:p>
            <a:pPr algn="l">
              <a:defRPr sz="1600">
                <a:solidFill>
                  <a:srgbClr val="CCCCCC"/>
                </a:solidFill>
              </a:defRPr>
            </a:pPr>
            <a:r>
              <a:t>Against 15 existing IDS models &amp; SDN security frameworks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CCCC"/>
                </a:solidFill>
              </a:defRPr>
            </a:pPr>
            <a:r>
              <a:t>12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116128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610"/>
                <a:gridCol w="1451610"/>
                <a:gridCol w="1451610"/>
                <a:gridCol w="1451610"/>
                <a:gridCol w="1451610"/>
                <a:gridCol w="1451610"/>
                <a:gridCol w="1451610"/>
                <a:gridCol w="1451610"/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anchor="ctr">
                    <a:solidFill>
                      <a:srgbClr val="003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Dataset</a:t>
                      </a:r>
                    </a:p>
                  </a:txBody>
                  <a:tcPr anchor="ctr">
                    <a:solidFill>
                      <a:srgbClr val="003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Acc.(%)</a:t>
                      </a:r>
                    </a:p>
                  </a:txBody>
                  <a:tcPr anchor="ctr">
                    <a:solidFill>
                      <a:srgbClr val="003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Prec.(%)</a:t>
                      </a:r>
                    </a:p>
                  </a:txBody>
                  <a:tcPr anchor="ctr">
                    <a:solidFill>
                      <a:srgbClr val="003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Recall(%)</a:t>
                      </a:r>
                    </a:p>
                  </a:txBody>
                  <a:tcPr anchor="ctr">
                    <a:solidFill>
                      <a:srgbClr val="003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F1(%)</a:t>
                      </a:r>
                    </a:p>
                  </a:txBody>
                  <a:tcPr anchor="ctr">
                    <a:solidFill>
                      <a:srgbClr val="003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Params</a:t>
                      </a:r>
                    </a:p>
                  </a:txBody>
                  <a:tcPr anchor="ctr">
                    <a:solidFill>
                      <a:srgbClr val="003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Inf. Time</a:t>
                      </a:r>
                    </a:p>
                  </a:txBody>
                  <a:tcPr anchor="ctr">
                    <a:solidFill>
                      <a:srgbClr val="003F7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3F72"/>
                          </a:solidFill>
                        </a:rPr>
                        <a:t>TCN-HMAC (Ours)</a:t>
                      </a:r>
                    </a:p>
                  </a:txBody>
                  <a:tcPr anchor="ctr">
                    <a:solidFill>
                      <a:srgbClr val="E0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3F72"/>
                          </a:solidFill>
                        </a:rPr>
                        <a:t>InSDN</a:t>
                      </a:r>
                    </a:p>
                  </a:txBody>
                  <a:tcPr anchor="ctr">
                    <a:solidFill>
                      <a:srgbClr val="E0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3F72"/>
                          </a:solidFill>
                        </a:rPr>
                        <a:t>99.85</a:t>
                      </a:r>
                    </a:p>
                  </a:txBody>
                  <a:tcPr anchor="ctr">
                    <a:solidFill>
                      <a:srgbClr val="E0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3F72"/>
                          </a:solidFill>
                        </a:rPr>
                        <a:t>99.80</a:t>
                      </a:r>
                    </a:p>
                  </a:txBody>
                  <a:tcPr anchor="ctr">
                    <a:solidFill>
                      <a:srgbClr val="E0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3F72"/>
                          </a:solidFill>
                        </a:rPr>
                        <a:t>99.97</a:t>
                      </a:r>
                    </a:p>
                  </a:txBody>
                  <a:tcPr anchor="ctr">
                    <a:solidFill>
                      <a:srgbClr val="E0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3F72"/>
                          </a:solidFill>
                        </a:rPr>
                        <a:t>99.89</a:t>
                      </a:r>
                    </a:p>
                  </a:txBody>
                  <a:tcPr anchor="ctr">
                    <a:solidFill>
                      <a:srgbClr val="E0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3F72"/>
                          </a:solidFill>
                        </a:rPr>
                        <a:t>157K</a:t>
                      </a:r>
                    </a:p>
                  </a:txBody>
                  <a:tcPr anchor="ctr">
                    <a:solidFill>
                      <a:srgbClr val="E0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3F72"/>
                          </a:solidFill>
                        </a:rPr>
                        <a:t>0.17ms</a:t>
                      </a:r>
                    </a:p>
                  </a:txBody>
                  <a:tcPr anchor="ctr">
                    <a:solidFill>
                      <a:srgbClr val="E0F0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CNN-BiLSTM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InSDN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99.90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99.91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99.90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99.90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~2M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~2ms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DNN Ensemble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InSDN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99.70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99.65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99.70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99.67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~5M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~3ms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CNN-LSTM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CIC-IDS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99.67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99.68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99.67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99.67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~1.5M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~1.5ms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DRL (DDQN)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InSDN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98.85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98.90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98.85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98.87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~3M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~5ms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BiTCN-MHSA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CIC-IDS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99.72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99.68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99.72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99.70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~500K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~0.5ms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LSTM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NSL-KDD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99.23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99.00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99.23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99.11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~500K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~1ms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DT/RF Baseline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InSDN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98.50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98.40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98.50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98.45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303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400"/>
              </a:spcAft>
            </a:pPr>
            <a:r>
              <a:rPr sz="1400" b="1">
                <a:solidFill>
                  <a:srgbClr val="00B36B"/>
                </a:solidFill>
              </a:rPr>
              <a:t>▸ Highest Detection Rate:</a:t>
            </a:r>
            <a:r>
              <a:rPr sz="1400">
                <a:solidFill>
                  <a:srgbClr val="00B36B"/>
                </a:solidFill>
              </a:rPr>
              <a:t> 99.97% (70% reduction in miss rate vs next-best).</a:t>
            </a:r>
          </a:p>
          <a:p>
            <a:pPr>
              <a:lnSpc>
                <a:spcPts val="1800"/>
              </a:lnSpc>
              <a:spcAft>
                <a:spcPts val="400"/>
              </a:spcAft>
            </a:pPr>
            <a:r>
              <a:rPr sz="1400" b="1">
                <a:solidFill>
                  <a:srgbClr val="00B36B"/>
                </a:solidFill>
              </a:rPr>
              <a:t>▸ Smallest Model:</a:t>
            </a:r>
            <a:r>
              <a:rPr sz="1400">
                <a:solidFill>
                  <a:srgbClr val="00B36B"/>
                </a:solidFill>
              </a:rPr>
              <a:t> 612 KB / 157K params—5–30× smaller than comparable DL models.</a:t>
            </a:r>
          </a:p>
          <a:p>
            <a:pPr>
              <a:lnSpc>
                <a:spcPts val="1800"/>
              </a:lnSpc>
              <a:spcAft>
                <a:spcPts val="400"/>
              </a:spcAft>
            </a:pPr>
            <a:r>
              <a:rPr sz="1400" b="1">
                <a:solidFill>
                  <a:srgbClr val="00B36B"/>
                </a:solidFill>
              </a:rPr>
              <a:t>▸ Fastest Inference:</a:t>
            </a:r>
            <a:r>
              <a:rPr sz="1400">
                <a:solidFill>
                  <a:srgbClr val="00B36B"/>
                </a:solidFill>
              </a:rPr>
              <a:t> 0.17 ms—enables 5,000+ flow classifications/sec.</a:t>
            </a:r>
          </a:p>
          <a:p>
            <a:pPr>
              <a:lnSpc>
                <a:spcPts val="1800"/>
              </a:lnSpc>
              <a:spcAft>
                <a:spcPts val="400"/>
              </a:spcAft>
            </a:pPr>
            <a:r>
              <a:rPr sz="1400" b="1">
                <a:solidFill>
                  <a:srgbClr val="00B36B"/>
                </a:solidFill>
              </a:rPr>
              <a:t>▸ Only Dual-Layer Framework:</a:t>
            </a:r>
            <a:r>
              <a:rPr sz="1400">
                <a:solidFill>
                  <a:srgbClr val="00B36B"/>
                </a:solidFill>
              </a:rPr>
              <a:t> Combines DL-based IDS + cryptographic flow rule authentication.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defRPr sz="3200" b="1">
                <a:solidFill>
                  <a:srgbClr val="FFFFFF"/>
                </a:solidFill>
              </a:defRPr>
            </a:pPr>
            <a:r>
              <a:t>Objectives Fulfilled</a:t>
            </a:r>
          </a:p>
          <a:p>
            <a:pPr algn="l">
              <a:defRPr sz="1600">
                <a:solidFill>
                  <a:srgbClr val="CCCCCC"/>
                </a:solidFill>
              </a:defRPr>
            </a:pPr>
            <a:r>
              <a:t>Mapping results back to research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CCCC"/>
                </a:solidFill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1600" b="1">
                <a:solidFill>
                  <a:srgbClr val="222222"/>
                </a:solidFill>
              </a:rPr>
              <a:t> RO1 ✔</a:t>
            </a:r>
            <a:r>
              <a:rPr sz="1600">
                <a:solidFill>
                  <a:srgbClr val="222222"/>
                </a:solidFill>
              </a:rPr>
              <a:t> TCN achieves 99.85% accuracy, 99.97% recall across DDoS, MITM, Probe, Brute-force (target: &gt;99%).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1600" b="1">
                <a:solidFill>
                  <a:srgbClr val="222222"/>
                </a:solidFill>
              </a:rPr>
              <a:t> RO2 ✔</a:t>
            </a:r>
            <a:r>
              <a:rPr sz="1600">
                <a:solidFill>
                  <a:srgbClr val="222222"/>
                </a:solidFill>
              </a:rPr>
              <a:t> 15-stage pipeline: cleaning → Pearson correlation → StandardScaler → PCA (48→24 features, 95.43% variance).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1600" b="1">
                <a:solidFill>
                  <a:srgbClr val="222222"/>
                </a:solidFill>
              </a:rPr>
              <a:t> RO3 ✔</a:t>
            </a:r>
            <a:r>
              <a:rPr sz="1600">
                <a:solidFill>
                  <a:srgbClr val="222222"/>
                </a:solidFill>
              </a:rPr>
              <a:t> TensorFlow/Keras model: 612 KB, 156,737 parameters, 0.17 ms inference—portable across platforms.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1600" b="1">
                <a:solidFill>
                  <a:srgbClr val="222222"/>
                </a:solidFill>
              </a:rPr>
              <a:t> RO4 ✔</a:t>
            </a:r>
            <a:r>
              <a:rPr sz="1600">
                <a:solidFill>
                  <a:srgbClr val="222222"/>
                </a:solidFill>
              </a:rPr>
              <a:t> Auxiliary agent: HMAC-SHA256 verification (~2 µs/msg) + challenge–response authentication (0.7 ms overhead).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1600" b="1">
                <a:solidFill>
                  <a:srgbClr val="222222"/>
                </a:solidFill>
              </a:rPr>
              <a:t> RO5 ✔</a:t>
            </a:r>
            <a:r>
              <a:rPr sz="1600">
                <a:solidFill>
                  <a:srgbClr val="222222"/>
                </a:solidFill>
              </a:rPr>
              <a:t> Integrated TCN-IDS + HMAC agent as Ryu controller app + co-located subprocess.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1600" b="1">
                <a:solidFill>
                  <a:srgbClr val="222222"/>
                </a:solidFill>
              </a:rPr>
              <a:t> RO6 ✔</a:t>
            </a:r>
            <a:r>
              <a:rPr sz="1600">
                <a:solidFill>
                  <a:srgbClr val="222222"/>
                </a:solidFill>
              </a:rPr>
              <a:t> Full evaluation: Accuracy 99.85%, Precision 99.80%, Recall 99.97%, F1 99.89%, FAR 0.37%.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1600" b="1">
                <a:solidFill>
                  <a:srgbClr val="222222"/>
                </a:solidFill>
              </a:rPr>
              <a:t> RO7 ✔</a:t>
            </a:r>
            <a:r>
              <a:rPr sz="1600">
                <a:solidFill>
                  <a:srgbClr val="222222"/>
                </a:solidFill>
              </a:rPr>
              <a:t> Benchmarked against 15 models—highest detection rate, smallest model, fastest inference.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defRPr sz="3200" b="1">
                <a:solidFill>
                  <a:srgbClr val="FFFFFF"/>
                </a:solidFill>
              </a:defRPr>
            </a:pPr>
            <a:r>
              <a:t>Key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CCCC"/>
                </a:solidFill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  <a:spcAft>
                <a:spcPts val="400"/>
              </a:spcAft>
            </a:pPr>
            <a:r>
              <a:rPr sz="1800" b="1">
                <a:solidFill>
                  <a:srgbClr val="222222"/>
                </a:solidFill>
              </a:rPr>
              <a:t>▸ Novel TCN-HMAC Framework:</a:t>
            </a:r>
            <a:r>
              <a:rPr sz="1800">
                <a:solidFill>
                  <a:srgbClr val="222222"/>
                </a:solidFill>
              </a:rPr>
              <a:t> First to combine temporal DL with lightweight cryptographic verification in a unified, deployable SDN security solution.</a:t>
            </a:r>
          </a:p>
          <a:p>
            <a:pPr>
              <a:lnSpc>
                <a:spcPts val="2700"/>
              </a:lnSpc>
              <a:spcAft>
                <a:spcPts val="400"/>
              </a:spcAft>
            </a:pPr>
            <a:r>
              <a:rPr sz="1800" b="1">
                <a:solidFill>
                  <a:srgbClr val="222222"/>
                </a:solidFill>
              </a:rPr>
              <a:t>▸ First TCN on InSDN:</a:t>
            </a:r>
            <a:r>
              <a:rPr sz="1800">
                <a:solidFill>
                  <a:srgbClr val="222222"/>
                </a:solidFill>
              </a:rPr>
              <a:t> Highest detection rate (99.97%) and lowest FAR (0.37%) among 15 compared approaches.</a:t>
            </a:r>
          </a:p>
          <a:p>
            <a:pPr>
              <a:lnSpc>
                <a:spcPts val="2700"/>
              </a:lnSpc>
              <a:spcAft>
                <a:spcPts val="400"/>
              </a:spcAft>
            </a:pPr>
            <a:r>
              <a:rPr sz="1800" b="1">
                <a:solidFill>
                  <a:srgbClr val="222222"/>
                </a:solidFill>
              </a:rPr>
              <a:t>▸ Compact Deployment:</a:t>
            </a:r>
            <a:r>
              <a:rPr sz="1800">
                <a:solidFill>
                  <a:srgbClr val="222222"/>
                </a:solidFill>
              </a:rPr>
              <a:t> 612 KB model (157K params)—runs inside the SDN controller without additional hardware.</a:t>
            </a:r>
          </a:p>
          <a:p>
            <a:pPr>
              <a:lnSpc>
                <a:spcPts val="2700"/>
              </a:lnSpc>
              <a:spcAft>
                <a:spcPts val="400"/>
              </a:spcAft>
            </a:pPr>
            <a:r>
              <a:rPr sz="1800" b="1">
                <a:solidFill>
                  <a:srgbClr val="222222"/>
                </a:solidFill>
              </a:rPr>
              <a:t>▸ Lightweight HMAC Agent:</a:t>
            </a:r>
            <a:r>
              <a:rPr sz="1800">
                <a:solidFill>
                  <a:srgbClr val="222222"/>
                </a:solidFill>
              </a:rPr>
              <a:t> ~2 µs per message, 0.7 ms control latency, 4.4% CPU, 13.7 MB RAM—negligible overhead.</a:t>
            </a:r>
          </a:p>
          <a:p>
            <a:pPr>
              <a:lnSpc>
                <a:spcPts val="2700"/>
              </a:lnSpc>
              <a:spcAft>
                <a:spcPts val="400"/>
              </a:spcAft>
            </a:pPr>
            <a:r>
              <a:rPr sz="1800" b="1">
                <a:solidFill>
                  <a:srgbClr val="222222"/>
                </a:solidFill>
              </a:rPr>
              <a:t>▸ Comprehensive Benchmark:</a:t>
            </a:r>
            <a:r>
              <a:rPr sz="1800">
                <a:solidFill>
                  <a:srgbClr val="222222"/>
                </a:solidFill>
              </a:rPr>
              <a:t> Most extensive comparative analysis in SDN IDS literature (15 models, multiple metrics).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defRPr sz="3200" b="1">
                <a:solidFill>
                  <a:srgbClr val="FFFFFF"/>
                </a:solidFill>
              </a:defRPr>
            </a:pPr>
            <a:r>
              <a:t>Conclusion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CCCC"/>
                </a:solidFill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400"/>
              </a:spcAft>
            </a:pPr>
            <a:r>
              <a:rPr sz="1600">
                <a:solidFill>
                  <a:srgbClr val="00B36B"/>
                </a:solidFill>
              </a:rPr>
              <a:t>✓ TCN-HMAC delivers near-perfect IDS (99.85% acc, 99.97% DR, 0.37% FAR) in a 612 KB, sub-millisecond package.</a:t>
            </a:r>
          </a:p>
          <a:p>
            <a:pPr>
              <a:lnSpc>
                <a:spcPts val="2400"/>
              </a:lnSpc>
              <a:spcAft>
                <a:spcPts val="400"/>
              </a:spcAft>
            </a:pPr>
            <a:r>
              <a:rPr sz="1600">
                <a:solidFill>
                  <a:srgbClr val="00B36B"/>
                </a:solidFill>
              </a:rPr>
              <a:t>✓ Bridges the detection–verification divide: TCN handles data-plane threats; HMAC secures the control plane.</a:t>
            </a:r>
          </a:p>
          <a:p>
            <a:pPr>
              <a:lnSpc>
                <a:spcPts val="2400"/>
              </a:lnSpc>
              <a:spcAft>
                <a:spcPts val="400"/>
              </a:spcAft>
            </a:pPr>
            <a:r>
              <a:rPr sz="1600">
                <a:solidFill>
                  <a:srgbClr val="00B36B"/>
                </a:solidFill>
              </a:rPr>
              <a:t>✓ Deployable as a standard controller app—no OpenFlow changes, no custom hardware.</a:t>
            </a:r>
          </a:p>
          <a:p>
            <a:pPr>
              <a:lnSpc>
                <a:spcPts val="2400"/>
              </a:lnSpc>
              <a:spcAft>
                <a:spcPts val="400"/>
              </a:spcAft>
            </a:pPr>
            <a:r>
              <a:rPr sz="1600">
                <a:solidFill>
                  <a:srgbClr val="00B36B"/>
                </a:solidFill>
              </a:rPr>
              <a:t>✓ Outperforms or matches 15 state-of-the-art models while being 5–30× smaller and fastest at inference.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3F72"/>
                </a:solidFill>
              </a:rPr>
              <a:t>Future Work Directions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400"/>
              </a:spcAft>
            </a:pPr>
            <a:r>
              <a:rPr sz="1500">
                <a:solidFill>
                  <a:srgbClr val="444444"/>
                </a:solidFill>
              </a:rPr>
              <a:t>○ Multi-dataset evaluation (NSL-KDD, CIC-IDS-2017, UNSW-NB15)</a:t>
            </a:r>
          </a:p>
          <a:p>
            <a:pPr>
              <a:lnSpc>
                <a:spcPts val="2100"/>
              </a:lnSpc>
              <a:spcAft>
                <a:spcPts val="400"/>
              </a:spcAft>
            </a:pPr>
            <a:r>
              <a:rPr sz="1500">
                <a:solidFill>
                  <a:srgbClr val="444444"/>
                </a:solidFill>
              </a:rPr>
              <a:t>○ Multi-class classification (identify specific attack types)</a:t>
            </a:r>
          </a:p>
          <a:p>
            <a:pPr>
              <a:lnSpc>
                <a:spcPts val="2100"/>
              </a:lnSpc>
              <a:spcAft>
                <a:spcPts val="400"/>
              </a:spcAft>
            </a:pPr>
            <a:r>
              <a:rPr sz="1500">
                <a:solidFill>
                  <a:srgbClr val="444444"/>
                </a:solidFill>
              </a:rPr>
              <a:t>○ Adversarial robustness evaluation (FGSM, PGD)</a:t>
            </a:r>
          </a:p>
          <a:p>
            <a:pPr>
              <a:lnSpc>
                <a:spcPts val="2100"/>
              </a:lnSpc>
              <a:spcAft>
                <a:spcPts val="400"/>
              </a:spcAft>
            </a:pPr>
            <a:r>
              <a:rPr sz="1500">
                <a:solidFill>
                  <a:srgbClr val="444444"/>
                </a:solidFill>
              </a:rPr>
              <a:t>○ Federated learning for cross-domain privacy-preserving training</a:t>
            </a:r>
          </a:p>
          <a:p>
            <a:pPr>
              <a:lnSpc>
                <a:spcPts val="2100"/>
              </a:lnSpc>
              <a:spcAft>
                <a:spcPts val="400"/>
              </a:spcAft>
            </a:pPr>
            <a:r>
              <a:rPr sz="1500">
                <a:solidFill>
                  <a:srgbClr val="444444"/>
                </a:solidFill>
              </a:rPr>
              <a:t>○ Online / incremental learning for concept drift adaptation</a:t>
            </a:r>
          </a:p>
          <a:p>
            <a:pPr>
              <a:lnSpc>
                <a:spcPts val="2100"/>
              </a:lnSpc>
              <a:spcAft>
                <a:spcPts val="400"/>
              </a:spcAft>
            </a:pPr>
            <a:r>
              <a:rPr sz="1500">
                <a:solidFill>
                  <a:srgbClr val="444444"/>
                </a:solidFill>
              </a:rPr>
              <a:t>○ Production HMAC implementation &amp; hardware benchmarking</a:t>
            </a:r>
          </a:p>
          <a:p>
            <a:pPr>
              <a:lnSpc>
                <a:spcPts val="2100"/>
              </a:lnSpc>
              <a:spcAft>
                <a:spcPts val="400"/>
              </a:spcAft>
            </a:pPr>
            <a:r>
              <a:rPr sz="1500">
                <a:solidFill>
                  <a:srgbClr val="444444"/>
                </a:solidFill>
              </a:rPr>
              <a:t>○ Model compression (INT8 quantization, pruning) for edge deployment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i="1">
                <a:solidFill>
                  <a:srgbClr val="FFFFFF"/>
                </a:solidFill>
              </a:rPr>
              <a:t>"TCN-HMAC narrows the gap between what the SDN control plane needs and what existing solutions provide."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Thank You</a:t>
            </a:r>
          </a:p>
          <a:p>
            <a:pPr algn="ctr">
              <a:spcBef>
                <a:spcPts val="2000"/>
              </a:spcBef>
            </a:pPr>
            <a:r>
              <a:rPr sz="2800">
                <a:solidFill>
                  <a:srgbClr val="CCCCCC"/>
                </a:solidFill>
              </a:rPr>
              <a:t>Questions &amp; Discussion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4572000"/>
            <a:ext cx="301752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100">
                <a:solidFill>
                  <a:srgbClr val="CCCCCC"/>
                </a:solidFill>
              </a:defRPr>
            </a:pPr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9377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600">
                <a:solidFill>
                  <a:srgbClr val="CCCCCC"/>
                </a:solidFill>
              </a:rPr>
              <a:t>Md. Mahamudul Hasan Zubayer  •  Supervisor: Dr. Md. Maruf Hassan</a:t>
            </a:r>
          </a:p>
          <a:p>
            <a:pPr algn="ctr"/>
            <a:r>
              <a:rPr sz="1400">
                <a:solidFill>
                  <a:srgbClr val="CCCCCC"/>
                </a:solidFill>
              </a:rPr>
              <a:t>Department of Computer Science and Engineering, Southeast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