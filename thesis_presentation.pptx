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1"/>
    <p:sldId id="274" r:id="rId32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presProps" Target="presProps.xml"/><Relationship Id="rId31" Type="http://schemas.openxmlformats.org/officeDocument/2006/relationships/slide" Target="slides/slide18.xml"/><Relationship Id="rId32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F517BD3-7801-455C-84A3-E75A79C1F52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908F8BA-F590-4F5D-9164-7C1FC570FE3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3FC30D1-2E77-415B-9934-0B37AF85210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DBC92C8C-638E-49A6-A5B8-A214D21BED1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2FB544FA-31F1-4A2B-8C56-68204D13DEE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446FED42-498F-4949-83B1-B43BD5537EC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C8562F52-63E2-432C-9AC1-79C5F6C336F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AA8B54D4-4E2A-4D77-99D1-E7BF93FEF60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C2D7D5CF-4C6C-4E7F-8A26-DBD7E1ADB6C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DF2D0664-BEFE-4D43-B298-32117156EFB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21CC368B-5893-4212-A1A0-1BDC5FF70E1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AA5F9DB-80EE-4321-A4F0-0E0B14A37BA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3949816-9349-46DD-B1C1-9989C52C283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3367E2E-3F0C-4690-B305-66EE3869944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64A3F7B-EC04-4F0A-A61C-30CDF272C10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D939C9C-ED52-4F44-AC40-7788658592F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13CFC04-514F-4A3F-9980-2D4DD3541D9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8B02A44-B25D-4D8B-8BC4-9473803868F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8BB40CF-33ED-4852-86E9-43DC655761F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0493708-AFE4-4F1B-8053-DF2191C99EF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to edit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title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ABE0D31-2FE2-487C-A31E-018486B1B0A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F58BD55-4F66-4FBA-A6D7-795FB654A13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1"/>
          <p:cNvSpPr/>
          <p:nvPr/>
        </p:nvSpPr>
        <p:spPr>
          <a:xfrm>
            <a:off x="229320" y="1600200"/>
            <a:ext cx="8457480" cy="85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500" spc="-1" strike="noStrike">
                <a:solidFill>
                  <a:srgbClr val="003366"/>
                </a:solidFill>
                <a:latin typeface="Calibri"/>
              </a:rPr>
              <a:t>TCN-HMAC: A Lightweight Deep Learning and Cryptographic</a:t>
            </a:r>
            <a:br>
              <a:rPr sz="2500"/>
            </a:br>
            <a:r>
              <a:rPr b="1" lang="en-US" sz="2500" spc="-1" strike="noStrike">
                <a:solidFill>
                  <a:srgbClr val="003366"/>
                </a:solidFill>
                <a:latin typeface="Calibri"/>
              </a:rPr>
              <a:t>Hybrid Security Framework for SDN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Box 2"/>
          <p:cNvSpPr/>
          <p:nvPr/>
        </p:nvSpPr>
        <p:spPr>
          <a:xfrm>
            <a:off x="457920" y="2971800"/>
            <a:ext cx="8228880" cy="22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Md. Mahamudul Hasan Zubayer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ID: 2022000000006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Supervisor: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endParaRPr b="0" lang="en-US" sz="5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Dr. Md. Maruf Hassan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endParaRPr b="0" lang="en-US" sz="5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Associate Professor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Department of Computer Science &amp; Engineering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Southeast University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1"/>
          <p:cNvSpPr/>
          <p:nvPr/>
        </p:nvSpPr>
        <p:spPr>
          <a:xfrm>
            <a:off x="274320" y="182880"/>
            <a:ext cx="8594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003366"/>
                </a:solidFill>
                <a:latin typeface="Calibri"/>
              </a:rPr>
              <a:t>Problem Statement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Box 69"/>
          <p:cNvSpPr/>
          <p:nvPr/>
        </p:nvSpPr>
        <p:spPr>
          <a:xfrm>
            <a:off x="365760" y="780120"/>
            <a:ext cx="8411760" cy="310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200" spc="-1" strike="noStrike">
                <a:solidFill>
                  <a:srgbClr val="333333"/>
                </a:solidFill>
                <a:latin typeface="Calibri"/>
              </a:rPr>
              <a:t>Software-Defined Networking (SDN) decouples the control plane from the data plane, centralizing all network intelligence into a single controller. While this enables programmability and agility, it introduces critical security vulnerabilities: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r>
              <a:rPr b="1" lang="en-US" sz="1100" spc="-1" strike="noStrike">
                <a:solidFill>
                  <a:srgbClr val="c0392b"/>
                </a:solidFill>
                <a:latin typeface="Calibri"/>
              </a:rPr>
              <a:t>  </a:t>
            </a:r>
            <a:r>
              <a:rPr b="1" lang="en-US" sz="1100" spc="-1" strike="noStrike">
                <a:solidFill>
                  <a:srgbClr val="c0392b"/>
                </a:solidFill>
                <a:latin typeface="Calibri"/>
              </a:rPr>
              <a:t>Single Point of Failure: </a:t>
            </a:r>
            <a:r>
              <a:rPr b="0" lang="en-US" sz="1100" spc="-1" strike="noStrike">
                <a:solidFill>
                  <a:srgbClr val="333333"/>
                </a:solidFill>
                <a:latin typeface="Calibri"/>
              </a:rPr>
              <a:t>The centralized controller becomes a high-value target if compromised, an attacker gains full control over the entire network: routing, forwarding, and policy enforcement.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r>
              <a:rPr b="1" lang="en-US" sz="1100" spc="-1" strike="noStrike">
                <a:solidFill>
                  <a:srgbClr val="c0392b"/>
                </a:solidFill>
                <a:latin typeface="Calibri"/>
              </a:rPr>
              <a:t>  </a:t>
            </a:r>
            <a:r>
              <a:rPr b="1" lang="en-US" sz="1100" spc="-1" strike="noStrike">
                <a:solidFill>
                  <a:srgbClr val="c0392b"/>
                </a:solidFill>
                <a:latin typeface="Calibri"/>
              </a:rPr>
              <a:t>Control Channel Vulnerability: </a:t>
            </a:r>
            <a:r>
              <a:rPr b="0" lang="en-US" sz="1100" spc="-1" strike="noStrike">
                <a:solidFill>
                  <a:srgbClr val="333333"/>
                </a:solidFill>
                <a:latin typeface="Calibri"/>
              </a:rPr>
              <a:t>The OpenFlow channel between controller and switches is susceptible to man-in-the-middle attacks, eavesdropping, and message injection. Even with TLS, semantic integrity of individual flow rules is not guaranteed.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r>
              <a:rPr b="1" lang="en-US" sz="1100" spc="-1" strike="noStrike">
                <a:solidFill>
                  <a:srgbClr val="c0392b"/>
                </a:solidFill>
                <a:latin typeface="Calibri"/>
              </a:rPr>
              <a:t>  </a:t>
            </a:r>
            <a:r>
              <a:rPr b="1" lang="en-US" sz="1100" spc="-1" strike="noStrike">
                <a:solidFill>
                  <a:srgbClr val="c0392b"/>
                </a:solidFill>
                <a:latin typeface="Calibri"/>
              </a:rPr>
              <a:t>Flow Rule Tampering: </a:t>
            </a:r>
            <a:r>
              <a:rPr b="0" lang="en-US" sz="1100" spc="-1" strike="noStrike">
                <a:solidFill>
                  <a:srgbClr val="333333"/>
                </a:solidFill>
                <a:latin typeface="Calibri"/>
              </a:rPr>
              <a:t>Malicious or compromised entities can inject, modify, or delete flow rules at the switch level. Without per-rule integrity verification, unauthorized flow table modifications go undetected.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r>
              <a:rPr b="1" lang="en-US" sz="1100" spc="-1" strike="noStrike">
                <a:solidFill>
                  <a:srgbClr val="c0392b"/>
                </a:solidFill>
                <a:latin typeface="Calibri"/>
              </a:rPr>
              <a:t>  </a:t>
            </a:r>
            <a:r>
              <a:rPr b="1" lang="en-US" sz="1100" spc="-1" strike="noStrike">
                <a:solidFill>
                  <a:srgbClr val="c0392b"/>
                </a:solidFill>
                <a:latin typeface="Calibri"/>
              </a:rPr>
              <a:t>Multi-Vector Attacks on SDN: </a:t>
            </a:r>
            <a:r>
              <a:rPr b="0" lang="en-US" sz="1100" spc="-1" strike="noStrike">
                <a:solidFill>
                  <a:srgbClr val="333333"/>
                </a:solidFill>
                <a:latin typeface="Calibri"/>
              </a:rPr>
              <a:t>Modern attackers combine data-plane threats (DDoS, probing, brute-force) with control-plane exploits (controller spoofing, rule injection). Existing solutions typically address only one attack surface.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r>
              <a:rPr b="1" lang="en-US" sz="1100" spc="-1" strike="noStrike">
                <a:solidFill>
                  <a:srgbClr val="c0392b"/>
                </a:solidFill>
                <a:latin typeface="Calibri"/>
              </a:rPr>
              <a:t>  </a:t>
            </a:r>
            <a:r>
              <a:rPr b="1" lang="en-US" sz="1100" spc="-1" strike="noStrike">
                <a:solidFill>
                  <a:srgbClr val="c0392b"/>
                </a:solidFill>
                <a:latin typeface="Calibri"/>
              </a:rPr>
              <a:t>Real-Time Constraints: </a:t>
            </a:r>
            <a:r>
              <a:rPr b="0" lang="en-US" sz="1100" spc="-1" strike="noStrike">
                <a:solidFill>
                  <a:srgbClr val="333333"/>
                </a:solidFill>
                <a:latin typeface="Calibri"/>
              </a:rPr>
              <a:t>SDN demands millisecond-scale responses. Heavyweight security mechanisms (blockchain, PKI) introduce seconds-level latency, making them impractical for production deployments.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</a:pPr>
            <a:r>
              <a:rPr b="1" lang="en-US" sz="1100" spc="-1" strike="noStrike">
                <a:solidFill>
                  <a:srgbClr val="1a5c97"/>
                </a:solidFill>
                <a:latin typeface="Calibri"/>
              </a:rPr>
              <a:t>These problems demand a unified, lightweight security solution that can simultaneously detect data-plane intrusions and verify control-plane integrity in real time which is the objective of this research.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Box 1"/>
          <p:cNvSpPr/>
          <p:nvPr/>
        </p:nvSpPr>
        <p:spPr>
          <a:xfrm>
            <a:off x="274320" y="91440"/>
            <a:ext cx="85946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03366"/>
                </a:solidFill>
                <a:latin typeface="Calibri"/>
              </a:rPr>
              <a:t>Literature Review (1/2)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5" name="Table 2"/>
          <p:cNvGraphicFramePr/>
          <p:nvPr/>
        </p:nvGraphicFramePr>
        <p:xfrm>
          <a:off x="274320" y="685800"/>
          <a:ext cx="8595000" cy="329184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548640"/>
                <a:gridCol w="3840480"/>
              </a:tblGrid>
              <a:tr h="274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Reference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Approach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Addressed Problem / Limitation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Pradeep et al. [2023]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EnsureS — batch hash flow rule verification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2023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Flow rule integrity only; no detection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Ahmed et al. [2023]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Modular HMAC for flow_mod verification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2023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Integrity only; no anomaly detection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Buruaga et al. [2025]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Quantum-safe TLS for SDN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2025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High overhead; not lightweight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Zhou et al. [2022]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SecureMatch — encrypted rule matching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2022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Requires switch hardware changes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Song et al. [2023]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Blockchain (IS2N) for intent-driven SDN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2023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Consensus latency (seconds per tx)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Rahman et al. [2022]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Blockchain survey for SDN security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2022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Storage/scalability overhead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Poorazad et al. [2023]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Blockchain + DL for IoT-SDN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2023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Very high computational overhead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Sharma &amp; Tyagi [2023]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Lightweight ML-IDS for MITM/DoS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2023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No flow rule verification; 98.12% acc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Ayad et al. [2025]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ML classifiers (RF, XGBoost) for SDN-IDS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2025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No temporal modeling; no verification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Said et al. [2023]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CNN-BiLSTM on InSDN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2023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Bidirectional — not real-time; no verification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Shihab et al. [2025]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CNN-LSTM + SMOTE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2025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Hybrid overhead; synthetic data artifacts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1"/>
          <p:cNvSpPr/>
          <p:nvPr/>
        </p:nvSpPr>
        <p:spPr>
          <a:xfrm>
            <a:off x="274320" y="91440"/>
            <a:ext cx="85946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03366"/>
                </a:solidFill>
                <a:latin typeface="Calibri"/>
              </a:rPr>
              <a:t>Literature Review (2/2)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7" name="Table 2"/>
          <p:cNvGraphicFramePr/>
          <p:nvPr/>
        </p:nvGraphicFramePr>
        <p:xfrm>
          <a:off x="274320" y="685800"/>
          <a:ext cx="8595000" cy="329184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548640"/>
                <a:gridCol w="3840480"/>
              </a:tblGrid>
              <a:tr h="274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Reference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Approach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Addressed Problem / Limitation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Ataa et al. [2024]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DNN Ensemble on InSDN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2024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Detection only; no deployment analysis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Basfar [2025]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Incremental LSTM Ensemble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2025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Sequential processing; high overhead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Kanimozhi et al. [2025]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DRL (DDQN) on InSDN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2025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Training instability; 98.85% acc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Wang et al. [2025]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TCN on InSDN (packet-length input)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2025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97.00% acc; 2.1ms inference; no verification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Lopes et al. [2023]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TCN on CIC-IDS-2017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2023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Not SDN-specific; no integrity mechanism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Li &amp; Li [2025]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TCN-SE (squeeze-and-excitation)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2025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No SDN dataset; no verification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Deng et al. [2024]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BiTCN-MHSA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2024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Bidirectional — offline only; complex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Khan et al. [2021]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MITM-Defender for SDN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2021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Narrow focus — MITM only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Malik &amp; Habib [2021]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Lightweight DoS agents at switches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2021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DoS-only; no general IDS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Liang et al. [2021]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Review of SDN-IDS vs. rule injection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2021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Identifies gap: detection ≠ verification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Elsayed et al. [2020]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InSDN dataset + DT/RF baselines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2020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98.50% acc; foundational benchmark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1"/>
          <p:cNvSpPr/>
          <p:nvPr/>
        </p:nvSpPr>
        <p:spPr>
          <a:xfrm>
            <a:off x="274320" y="182880"/>
            <a:ext cx="8594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003366"/>
                </a:solidFill>
                <a:latin typeface="Calibri"/>
              </a:rPr>
              <a:t>Research Gaps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Box 2"/>
          <p:cNvSpPr/>
          <p:nvPr/>
        </p:nvSpPr>
        <p:spPr>
          <a:xfrm>
            <a:off x="365760" y="914400"/>
            <a:ext cx="8411760" cy="358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	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Gap 1: Detection without Verification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DL-based IDS focuses on anomaly detection without integrity verification. Control plane remains vulnerable to flow rule tampering that bypasses the detection layer.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Gap 2: Verification without Detection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Cryptographic schemes (HMAC, TLS) verify integrity but lack proactive threat detection. Cannot spot DDoS, probes, or brute-force attacks.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Gap 3: Heavyweight Hybrid Solutions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Existing hybrids (DL + Blockchain) introduce prohibitive latency and computational overhead.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Gap 4: No Comprehensive Lightweight Hybrid Framework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No existing work combines temporal DL-based IDS + HMAC flow rule verification + challenge-response controller authentication in a unified, lightweight, deployable solution.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1"/>
          <p:cNvSpPr/>
          <p:nvPr/>
        </p:nvSpPr>
        <p:spPr>
          <a:xfrm>
            <a:off x="274320" y="182880"/>
            <a:ext cx="8594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003366"/>
                </a:solidFill>
                <a:latin typeface="Calibri"/>
              </a:rPr>
              <a:t>Research Objectives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Box 2"/>
          <p:cNvSpPr/>
          <p:nvPr/>
        </p:nvSpPr>
        <p:spPr>
          <a:xfrm>
            <a:off x="365760" y="914400"/>
            <a:ext cx="8411760" cy="357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RO1: To design a TCN-based IDS model for binary classification of SDN traffic which achieves satisfactory result metrics (above 90% accuracy in detection).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RO2: Train and deploy a compact TCN model suitable for resource-constrained SDN controllers. [Gap 4]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RO3: Design a lightweight HMAC-based auxiliary agent for flow rule integrity verification and periodic challenge-response controller authentication. [Gaps 2, 4]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RO4: Integrate TCN-IDS and HMAC agent into a cohesive framework operating within the SDN control loop. [→ Gap 4]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RO5: Evaluate framework in simulated SDN environment (Ryu + Mininet + OVS) and measure detection performance + computational overhead. [ Gaps 3, 4]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RO6: Conduct comprehensive comparative analysis against existing researches spanning ML, DL, TCN variants, and cryptographic frameworks. [Gaps 1, 4]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1"/>
          <p:cNvSpPr/>
          <p:nvPr/>
        </p:nvSpPr>
        <p:spPr>
          <a:xfrm>
            <a:off x="274320" y="182880"/>
            <a:ext cx="8594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003366"/>
                </a:solidFill>
                <a:latin typeface="Calibri"/>
              </a:rPr>
              <a:t>Research Contribution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Box 2"/>
          <p:cNvSpPr/>
          <p:nvPr/>
        </p:nvSpPr>
        <p:spPr>
          <a:xfrm>
            <a:off x="365760" y="914400"/>
            <a:ext cx="8411760" cy="11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	</a:t>
            </a: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1. First framework to combine TCN based intrusion detection with HMAC based flow rule integrity verification and </a:t>
            </a: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	</a:t>
            </a: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	</a:t>
            </a: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    challenge-response controller authentication in a unified SDN security solution.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	</a:t>
            </a: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2. Bridges the detection-verification divide. TCN handles external threats (DDoS, probes, brute-force) and HMAC </a:t>
            </a: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	</a:t>
            </a: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	</a:t>
            </a: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    agent handles internal threats (flow rule tampering, controller spoofing, replay attacks).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1"/>
          <p:cNvSpPr/>
          <p:nvPr/>
        </p:nvSpPr>
        <p:spPr>
          <a:xfrm>
            <a:off x="274320" y="182880"/>
            <a:ext cx="8594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003366"/>
                </a:solidFill>
                <a:latin typeface="Calibri"/>
              </a:rPr>
              <a:t>System Architecture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5" name="Picture 81" descr="system_architecture.drawio.png"/>
          <p:cNvPicPr/>
          <p:nvPr/>
        </p:nvPicPr>
        <p:blipFill>
          <a:blip r:embed="rId1"/>
          <a:stretch/>
        </p:blipFill>
        <p:spPr>
          <a:xfrm>
            <a:off x="457200" y="777240"/>
            <a:ext cx="5303160" cy="4531680"/>
          </a:xfrm>
          <a:prstGeom prst="rect">
            <a:avLst/>
          </a:prstGeom>
          <a:ln w="0">
            <a:noFill/>
          </a:ln>
        </p:spPr>
      </p:pic>
      <p:sp>
        <p:nvSpPr>
          <p:cNvPr id="66" name="TextBox 82"/>
          <p:cNvSpPr/>
          <p:nvPr/>
        </p:nvSpPr>
        <p:spPr>
          <a:xfrm>
            <a:off x="5943600" y="777240"/>
            <a:ext cx="2925720" cy="21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1a5c97"/>
                </a:solidFill>
                <a:latin typeface="Calibri"/>
              </a:rPr>
              <a:t>TCN-IDS (Detection Boundary)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r>
              <a:rPr b="0" lang="en-US" sz="900" spc="-1" strike="noStrike">
                <a:solidFill>
                  <a:srgbClr val="333333"/>
                </a:solidFill>
                <a:latin typeface="Calibri"/>
              </a:rPr>
              <a:t>• </a:t>
            </a:r>
            <a:r>
              <a:rPr b="0" lang="en-US" sz="900" spc="-1" strike="noStrike">
                <a:solidFill>
                  <a:srgbClr val="333333"/>
                </a:solidFill>
                <a:latin typeface="Calibri"/>
              </a:rPr>
              <a:t>6 dilated residual blocks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r>
              <a:rPr b="0" lang="en-US" sz="900" spc="-1" strike="noStrike">
                <a:solidFill>
                  <a:srgbClr val="333333"/>
                </a:solidFill>
                <a:latin typeface="Calibri"/>
              </a:rPr>
              <a:t>• </a:t>
            </a:r>
            <a:r>
              <a:rPr b="0" lang="en-US" sz="900" spc="-1" strike="noStrike">
                <a:solidFill>
                  <a:srgbClr val="333333"/>
                </a:solidFill>
                <a:latin typeface="Calibri"/>
              </a:rPr>
              <a:t>64 filters, kernel size 3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r>
              <a:rPr b="0" lang="en-US" sz="900" spc="-1" strike="noStrike">
                <a:solidFill>
                  <a:srgbClr val="333333"/>
                </a:solidFill>
                <a:latin typeface="Calibri"/>
              </a:rPr>
              <a:t>• </a:t>
            </a:r>
            <a:r>
              <a:rPr b="0" lang="en-US" sz="900" spc="-1" strike="noStrike">
                <a:solidFill>
                  <a:srgbClr val="333333"/>
                </a:solidFill>
                <a:latin typeface="Calibri"/>
              </a:rPr>
              <a:t>GlobalAvgPool → Dense → Sigmoid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r>
              <a:rPr b="0" lang="en-US" sz="900" spc="-1" strike="noStrike">
                <a:solidFill>
                  <a:srgbClr val="333333"/>
                </a:solidFill>
                <a:latin typeface="Calibri"/>
              </a:rPr>
              <a:t>• </a:t>
            </a:r>
            <a:r>
              <a:rPr b="0" lang="en-US" sz="900" spc="-1" strike="noStrike">
                <a:solidFill>
                  <a:srgbClr val="333333"/>
                </a:solidFill>
                <a:latin typeface="Calibri"/>
              </a:rPr>
              <a:t>156,737 params | 612 KB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r>
              <a:rPr b="0" lang="en-US" sz="900" spc="-1" strike="noStrike">
                <a:solidFill>
                  <a:srgbClr val="333333"/>
                </a:solidFill>
                <a:latin typeface="Calibri"/>
              </a:rPr>
              <a:t>• </a:t>
            </a:r>
            <a:r>
              <a:rPr b="0" lang="en-US" sz="900" spc="-1" strike="noStrike">
                <a:solidFill>
                  <a:srgbClr val="333333"/>
                </a:solidFill>
                <a:latin typeface="Calibri"/>
              </a:rPr>
              <a:t>Inference: 0.17 ms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</a:pPr>
            <a:r>
              <a:rPr b="1" lang="en-US" sz="1000" spc="-1" strike="noStrike">
                <a:solidFill>
                  <a:srgbClr val="c0392b"/>
                </a:solidFill>
                <a:latin typeface="Calibri"/>
              </a:rPr>
              <a:t>HMAC Agent (Integrity Boundary)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r>
              <a:rPr b="0" lang="en-US" sz="900" spc="-1" strike="noStrike">
                <a:solidFill>
                  <a:srgbClr val="333333"/>
                </a:solidFill>
                <a:latin typeface="Calibri"/>
              </a:rPr>
              <a:t>• </a:t>
            </a:r>
            <a:r>
              <a:rPr b="0" lang="en-US" sz="900" spc="-1" strike="noStrike">
                <a:solidFill>
                  <a:srgbClr val="333333"/>
                </a:solidFill>
                <a:latin typeface="Calibri"/>
              </a:rPr>
              <a:t>HMAC-SHA256 per flow_mod msg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r>
              <a:rPr b="0" lang="en-US" sz="900" spc="-1" strike="noStrike">
                <a:solidFill>
                  <a:srgbClr val="333333"/>
                </a:solidFill>
                <a:latin typeface="Calibri"/>
              </a:rPr>
              <a:t>• </a:t>
            </a:r>
            <a:r>
              <a:rPr b="0" lang="en-US" sz="900" spc="-1" strike="noStrike">
                <a:solidFill>
                  <a:srgbClr val="333333"/>
                </a:solidFill>
                <a:latin typeface="Calibri"/>
              </a:rPr>
              <a:t>Shadow table verification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r>
              <a:rPr b="0" lang="en-US" sz="900" spc="-1" strike="noStrike">
                <a:solidFill>
                  <a:srgbClr val="333333"/>
                </a:solidFill>
                <a:latin typeface="Calibri"/>
              </a:rPr>
              <a:t>• </a:t>
            </a:r>
            <a:r>
              <a:rPr b="0" lang="en-US" sz="900" spc="-1" strike="noStrike">
                <a:solidFill>
                  <a:srgbClr val="333333"/>
                </a:solidFill>
                <a:latin typeface="Calibri"/>
              </a:rPr>
              <a:t>Challenge-response auth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r>
              <a:rPr b="0" lang="en-US" sz="900" spc="-1" strike="noStrike">
                <a:solidFill>
                  <a:srgbClr val="333333"/>
                </a:solidFill>
                <a:latin typeface="Calibri"/>
              </a:rPr>
              <a:t>• </a:t>
            </a:r>
            <a:r>
              <a:rPr b="0" lang="en-US" sz="900" spc="-1" strike="noStrike">
                <a:solidFill>
                  <a:srgbClr val="333333"/>
                </a:solidFill>
                <a:latin typeface="Calibri"/>
              </a:rPr>
              <a:t>~2 μs/msg | +0.7 ms latency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r>
              <a:rPr b="0" lang="en-US" sz="900" spc="-1" strike="noStrike">
                <a:solidFill>
                  <a:srgbClr val="333333"/>
                </a:solidFill>
                <a:latin typeface="Calibri"/>
              </a:rPr>
              <a:t>• </a:t>
            </a:r>
            <a:r>
              <a:rPr b="0" lang="en-US" sz="900" spc="-1" strike="noStrike">
                <a:solidFill>
                  <a:srgbClr val="333333"/>
                </a:solidFill>
                <a:latin typeface="Calibri"/>
              </a:rPr>
              <a:t>+4.4% CPU | +13.7 MB RAM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274320" y="182880"/>
            <a:ext cx="8594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003366"/>
                </a:solidFill>
                <a:latin typeface="Calibri"/>
              </a:rPr>
              <a:t>Dataset: InSDN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365760" y="914400"/>
            <a:ext cx="8411760" cy="464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InSDN (Elsayed et al., 2020) — purpose-built for SDN intrusion detection research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Overview: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343,889 raw samples from SDN testbed (Mininet + Ryu + OVS)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84 flow-level features (CICFlowMeter) covering packet counts, byte volumes, IAT statistics, flag distributions, flow duration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4 attack categories: DDoS, MITM, Probe, Brute-force + Normal traffic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Why InSDN?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SDN-specific: Generated in a real SDN testbed — reflects actual SDN traffic patterns, unlike generic datasets (NSL-KDD, CIC-IDS-2017)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Comprehensive attack coverage: Covers the four most prevalent SDN threat classes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Widely adopted SDN IDS benchmark — enables direct comparison with prior work (Said et al., Ataa et al., Kanimozhi et al., Wang et al.)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Well-documented feature schema with flow-level statistics suitable for temporal modeling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Class Distribution (after preprocessing):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Normal: 68,424 (37.4%) | Attack: 114,407 (62.6%) — addressed via inverse-frequency class weighting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1"/>
          <p:cNvSpPr/>
          <p:nvPr/>
        </p:nvSpPr>
        <p:spPr>
          <a:xfrm>
            <a:off x="274320" y="182880"/>
            <a:ext cx="8594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003366"/>
                </a:solidFill>
                <a:latin typeface="Calibri"/>
              </a:rPr>
              <a:t>Experimental Setup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Box 2"/>
          <p:cNvSpPr/>
          <p:nvPr/>
        </p:nvSpPr>
        <p:spPr>
          <a:xfrm>
            <a:off x="365760" y="914400"/>
            <a:ext cx="8411760" cy="44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Preprocessing Pipeline (15 stages):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Data cleaning → duplicate removal (343,889 → 182,831) → Pearson correlation thresholding (|r| &gt; 0.95) → 84 → 48 features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StandardScaler normalization → Label encoding → PCA dimensionality reduction (48 → 24, retaining 95.43% variance)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Inverse-frequency class weighting: Normal = 1.4258, Attack = 0.7700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Data Split: 70% train (127,981) / 10% validation (18,283) / 20% test (36,567)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Training Configuration: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Framework: TensorFlow 2.19.0 / Keras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Hardware: Google Colab — NVIDIA Tesla T4 GPU (16 GB), 12.7 GB RAM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Optimizer: Adam (lr = 0.001, β₁ = 0.9, β₂ = 0.999)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Loss: Binary Cross-Entropy with class weights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Batch size: 2,048 | Epochs: 30 (EarlyStopping patience = 10)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Training time: ~5 minutes total (~10 sec/epoch)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SDN Simulation: Mininet + Ryu controller + Open vSwitch (OVS)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1"/>
          <p:cNvSpPr/>
          <p:nvPr/>
        </p:nvSpPr>
        <p:spPr>
          <a:xfrm>
            <a:off x="274320" y="91440"/>
            <a:ext cx="85946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03366"/>
                </a:solidFill>
                <a:latin typeface="Calibri"/>
              </a:rPr>
              <a:t>Results: TCN-IDS Performance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72" name="Table 2"/>
          <p:cNvGraphicFramePr/>
          <p:nvPr/>
        </p:nvGraphicFramePr>
        <p:xfrm>
          <a:off x="274320" y="685800"/>
          <a:ext cx="8595000" cy="2747520"/>
        </p:xfrm>
        <a:graphic>
          <a:graphicData uri="http://schemas.openxmlformats.org/drawingml/2006/table">
            <a:tbl>
              <a:tblPr/>
              <a:tblGrid>
                <a:gridCol w="4572000"/>
                <a:gridCol w="4023360"/>
              </a:tblGrid>
              <a:tr h="274320">
                <a:tc>
                  <a:txBody>
                    <a:bodyPr lIns="36000" rIns="36000" tIns="36000" bIns="36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5983b0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5983b0"/>
                    </a:solidFill>
                  </a:tcPr>
                </a:tc>
              </a:tr>
              <a:tr h="274320">
                <a:tc>
                  <a:txBody>
                    <a:bodyPr lIns="36000" rIns="36000" tIns="36000" bIns="36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Accuracy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99.85%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</a:tr>
              <a:tr h="274320">
                <a:tc>
                  <a:txBody>
                    <a:bodyPr lIns="36000" rIns="36000" tIns="36000" bIns="36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Precision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99.80%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</a:tr>
              <a:tr h="274320">
                <a:tc>
                  <a:txBody>
                    <a:bodyPr lIns="36000" rIns="36000" tIns="36000" bIns="36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Recall (Detection Rate)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99.97%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</a:tr>
              <a:tr h="274320">
                <a:tc>
                  <a:txBody>
                    <a:bodyPr lIns="36000" rIns="36000" tIns="36000" bIns="36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F1-Score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99.89%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</a:tr>
              <a:tr h="274320">
                <a:tc>
                  <a:txBody>
                    <a:bodyPr lIns="36000" rIns="36000" tIns="36000" bIns="36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False Alarm Rate (FAR)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0.37%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</a:tr>
            </a:tbl>
          </a:graphicData>
        </a:graphic>
      </p:graphicFrame>
      <p:pic>
        <p:nvPicPr>
          <p:cNvPr id="73" name="Picture 88" descr="plot_confusion_matrix.png"/>
          <p:cNvPicPr/>
          <p:nvPr/>
        </p:nvPicPr>
        <p:blipFill>
          <a:blip r:embed="rId1"/>
          <a:stretch/>
        </p:blipFill>
        <p:spPr>
          <a:xfrm>
            <a:off x="1371600" y="3321360"/>
            <a:ext cx="3154680" cy="3079440"/>
          </a:xfrm>
          <a:prstGeom prst="rect">
            <a:avLst/>
          </a:prstGeom>
          <a:ln w="0">
            <a:noFill/>
          </a:ln>
        </p:spPr>
      </p:pic>
      <p:sp>
        <p:nvSpPr>
          <p:cNvPr id="74" name="TextBox 90"/>
          <p:cNvSpPr/>
          <p:nvPr/>
        </p:nvSpPr>
        <p:spPr>
          <a:xfrm>
            <a:off x="5258160" y="3971520"/>
            <a:ext cx="2742840" cy="140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1a5c97"/>
                </a:solidFill>
                <a:latin typeface="Calibri"/>
              </a:rPr>
              <a:t>Key Results: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r>
              <a:rPr b="0" lang="en-US" sz="1300" spc="-1" strike="noStrike">
                <a:solidFill>
                  <a:srgbClr val="333333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333333"/>
                </a:solidFill>
                <a:latin typeface="Calibri"/>
              </a:rPr>
              <a:t>Only 54 errors / 36,567 samples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r>
              <a:rPr b="0" lang="en-US" sz="1300" spc="-1" strike="noStrike">
                <a:solidFill>
                  <a:srgbClr val="333333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333333"/>
                </a:solidFill>
                <a:latin typeface="Calibri"/>
              </a:rPr>
              <a:t>47 false alarms + 7 missed attacks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r>
              <a:rPr b="0" lang="en-US" sz="1300" spc="-1" strike="noStrike">
                <a:solidFill>
                  <a:srgbClr val="333333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333333"/>
                </a:solidFill>
                <a:latin typeface="Calibri"/>
              </a:rPr>
              <a:t>HMAC: ~2 μs/msg, 500K msgs/sec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r>
              <a:rPr b="0" lang="en-US" sz="1300" spc="-1" strike="noStrike">
                <a:solidFill>
                  <a:srgbClr val="333333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333333"/>
                </a:solidFill>
                <a:latin typeface="Calibri"/>
              </a:rPr>
              <a:t>+0.7 ms latency | +4.4% CPU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r>
              <a:rPr b="0" lang="en-US" sz="1300" spc="-1" strike="noStrike">
                <a:solidFill>
                  <a:srgbClr val="333333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333333"/>
                </a:solidFill>
                <a:latin typeface="Calibri"/>
              </a:rPr>
              <a:t>End-to-end: ~170 μs per flow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1"/>
          <p:cNvSpPr/>
          <p:nvPr/>
        </p:nvSpPr>
        <p:spPr>
          <a:xfrm>
            <a:off x="3330000" y="91440"/>
            <a:ext cx="24807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1a5c97"/>
                </a:solidFill>
                <a:latin typeface="Calibri"/>
              </a:rPr>
              <a:t>Training Dynamics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6" name="Picture 2" descr="plot_accuracy.png"/>
          <p:cNvPicPr/>
          <p:nvPr/>
        </p:nvPicPr>
        <p:blipFill>
          <a:blip r:embed="rId1"/>
          <a:stretch/>
        </p:blipFill>
        <p:spPr>
          <a:xfrm>
            <a:off x="274320" y="777240"/>
            <a:ext cx="4114440" cy="2551680"/>
          </a:xfrm>
          <a:prstGeom prst="rect">
            <a:avLst/>
          </a:prstGeom>
          <a:ln w="0">
            <a:noFill/>
          </a:ln>
        </p:spPr>
      </p:pic>
      <p:pic>
        <p:nvPicPr>
          <p:cNvPr id="77" name="Picture 3" descr="plot_loss.png"/>
          <p:cNvPicPr/>
          <p:nvPr/>
        </p:nvPicPr>
        <p:blipFill>
          <a:blip r:embed="rId2"/>
          <a:stretch/>
        </p:blipFill>
        <p:spPr>
          <a:xfrm>
            <a:off x="4572000" y="777240"/>
            <a:ext cx="4114440" cy="2551680"/>
          </a:xfrm>
          <a:prstGeom prst="rect">
            <a:avLst/>
          </a:prstGeom>
          <a:ln w="0">
            <a:noFill/>
          </a:ln>
        </p:spPr>
      </p:pic>
      <p:pic>
        <p:nvPicPr>
          <p:cNvPr id="78" name="Picture 4" descr="plot_precision_recall.png"/>
          <p:cNvPicPr/>
          <p:nvPr/>
        </p:nvPicPr>
        <p:blipFill>
          <a:blip r:embed="rId3"/>
          <a:stretch/>
        </p:blipFill>
        <p:spPr>
          <a:xfrm>
            <a:off x="274320" y="3291840"/>
            <a:ext cx="4114440" cy="2551680"/>
          </a:xfrm>
          <a:prstGeom prst="rect">
            <a:avLst/>
          </a:prstGeom>
          <a:ln w="0">
            <a:noFill/>
          </a:ln>
        </p:spPr>
      </p:pic>
      <p:pic>
        <p:nvPicPr>
          <p:cNvPr id="79" name="Picture 5" descr="plot_auc.png"/>
          <p:cNvPicPr/>
          <p:nvPr/>
        </p:nvPicPr>
        <p:blipFill>
          <a:blip r:embed="rId4"/>
          <a:stretch/>
        </p:blipFill>
        <p:spPr>
          <a:xfrm>
            <a:off x="4572000" y="3291840"/>
            <a:ext cx="4114440" cy="2551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Box 1"/>
          <p:cNvSpPr/>
          <p:nvPr/>
        </p:nvSpPr>
        <p:spPr>
          <a:xfrm>
            <a:off x="274320" y="91440"/>
            <a:ext cx="85946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03366"/>
                </a:solidFill>
                <a:latin typeface="Calibri"/>
              </a:rPr>
              <a:t>Comparison with Existing Approaches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81" name="Table 2"/>
          <p:cNvGraphicFramePr/>
          <p:nvPr/>
        </p:nvGraphicFramePr>
        <p:xfrm>
          <a:off x="274320" y="685800"/>
          <a:ext cx="7497720" cy="4114800"/>
        </p:xfrm>
        <a:graphic>
          <a:graphicData uri="http://schemas.openxmlformats.org/drawingml/2006/table">
            <a:tbl>
              <a:tblPr/>
              <a:tblGrid>
                <a:gridCol w="1371600"/>
                <a:gridCol w="548640"/>
                <a:gridCol w="1371600"/>
                <a:gridCol w="914400"/>
                <a:gridCol w="822960"/>
                <a:gridCol w="822960"/>
                <a:gridCol w="822960"/>
                <a:gridCol w="822960"/>
              </a:tblGrid>
              <a:tr h="274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Reference</a:t>
                      </a:r>
                      <a:endParaRPr b="0" lang="en-U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  <a:endParaRPr b="0" lang="en-U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  <a:endParaRPr b="0" lang="en-U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Dataset</a:t>
                      </a:r>
                      <a:endParaRPr b="0" lang="en-U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Acc%</a:t>
                      </a:r>
                      <a:endParaRPr b="0" lang="en-U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Prec%</a:t>
                      </a:r>
                      <a:endParaRPr b="0" lang="en-U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Rec%</a:t>
                      </a:r>
                      <a:endParaRPr b="0" lang="en-U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F1%</a:t>
                      </a:r>
                      <a:endParaRPr b="0" lang="en-US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Proposed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2025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TCN-HMAC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InSDN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99.85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99.80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99.97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99.89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Said et al.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2023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CNN-BiLSTM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InSDN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99.90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99.91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99.90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99.90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Shihab et al.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2025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CNN-LSTM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CIC-IDS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99.67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99.68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99.67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99.67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Yang et al.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2024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CNN-GRU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NSL-KDD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99.35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99.20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99.35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99.27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Ataa et al.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2024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DNN Ensemble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InSDN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99.70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99.65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99.70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99.67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Basfar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2025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LSTM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NSL-KDD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99.23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99.00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99.23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99.11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Kumar et al.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2025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Hybrid DL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CIC-IDS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99.45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99.42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99.45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99.43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Kanimozhi et al.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2025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DRL (DDQN)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InSDN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98.85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98.90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98.85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98.87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Lopes et al.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2023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TCN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CIC-IDS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99.75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99.70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99.75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99.72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Li et al.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2025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TCN-SE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NSL-KDD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99.62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99.58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99.62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99.60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Wang et al.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2025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TCN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InSDN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97.00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96.40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96.91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96.72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Deng et al.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2024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BiTCN-MHSA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CIC-IDS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99.72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99.68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99.72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99.70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Ahmad et al.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2021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CNN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InSDN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99.20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99.10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99.20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99.15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Elsayed et al.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2020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DT/RF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InSDN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98.50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98.40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98.50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9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98.45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Box 1"/>
          <p:cNvSpPr/>
          <p:nvPr/>
        </p:nvSpPr>
        <p:spPr>
          <a:xfrm>
            <a:off x="274320" y="91440"/>
            <a:ext cx="859464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03366"/>
                </a:solidFill>
                <a:latin typeface="Calibri"/>
              </a:rPr>
              <a:t>Comparison with SDN Security Frameworks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83" name="Table 2"/>
          <p:cNvGraphicFramePr/>
          <p:nvPr/>
        </p:nvGraphicFramePr>
        <p:xfrm>
          <a:off x="274320" y="685800"/>
          <a:ext cx="8320680" cy="1920240"/>
        </p:xfrm>
        <a:graphic>
          <a:graphicData uri="http://schemas.openxmlformats.org/drawingml/2006/table">
            <a:tbl>
              <a:tblPr/>
              <a:tblGrid>
                <a:gridCol w="1828800"/>
                <a:gridCol w="1097280"/>
                <a:gridCol w="1280160"/>
                <a:gridCol w="1188720"/>
                <a:gridCol w="1005840"/>
                <a:gridCol w="1005840"/>
                <a:gridCol w="914400"/>
              </a:tblGrid>
              <a:tr h="274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Framework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IDS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Ctrl Auth.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Flow Verify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Anti-Replay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Overhead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Real-Time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03366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TCN-HMAC (Proposed)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TCN (DL)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HMAC-SHA256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Shadow Table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Seq + TS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Low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Ahmed et al. [2023]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None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HMAC-SHA256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No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Partial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Low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Pradeep et al. [2023]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EnsureS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TLS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No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No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Moderate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Partial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Song et al. [2023]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Blockchain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Consensus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High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No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Poorazad et al. [2023]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ML + BC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Blockchain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Yes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Very High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No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6f0fa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Zhou et al. [2022]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Encryption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OPE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Partial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No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Moderate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Partial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Box 1"/>
          <p:cNvSpPr/>
          <p:nvPr/>
        </p:nvSpPr>
        <p:spPr>
          <a:xfrm>
            <a:off x="274320" y="182880"/>
            <a:ext cx="8594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003366"/>
                </a:solidFill>
                <a:latin typeface="Calibri"/>
              </a:rPr>
              <a:t>Results Mapped to Research Objectives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Box 2"/>
          <p:cNvSpPr/>
          <p:nvPr/>
        </p:nvSpPr>
        <p:spPr>
          <a:xfrm>
            <a:off x="365760" y="914400"/>
            <a:ext cx="8411760" cy="260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	</a:t>
            </a: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RO1: Achieved satisfactory Restults with 99.85% accuracy.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RO2: Built Compact deployable TCN model with 156,737 params and 0.17 ms inference time.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RO3: Built a lightweight HMAC auxiliary agent with HMAC-SHA256 and challenge-response with only 0.7 ms added latency.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RO4: Integrated TCN with HMAC Dual level defense operating in the SDN control loop.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RO5: Evaluated the proposed framework in simulated SDN Ryu + Mininet + OVS testbed.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RO6: Benchmarked against 16 existing research papers in the similar domain of research.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Box 1"/>
          <p:cNvSpPr/>
          <p:nvPr/>
        </p:nvSpPr>
        <p:spPr>
          <a:xfrm>
            <a:off x="274320" y="182880"/>
            <a:ext cx="8594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003366"/>
                </a:solidFill>
                <a:latin typeface="Calibri"/>
              </a:rPr>
              <a:t>Conclusion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Box 2"/>
          <p:cNvSpPr/>
          <p:nvPr/>
        </p:nvSpPr>
        <p:spPr>
          <a:xfrm>
            <a:off x="365760" y="914400"/>
            <a:ext cx="8411760" cy="368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TCN-HMAC is a lightweight, Hybrid security framework for Software-Defined Networks which,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1. Bridges the detection-verification divide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2. Outperforms many existing approaches, or match performance with significantly lower computational overhead.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3. Operates in real time: 0.17 ms inference + 2 μs HMAC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4. Requires no protocol modifications and runs entirely as a software controller application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Future Directions: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1. Online Training for concept drift adaptation.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2. Multi-controller SDN deployment support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3. Cross-dataset generalization (NSL-KDD, CIC-IDS-2017, UNSW-NB15)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4. Adversarial robustness evaluation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5. Multi-class attack type classification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Box 1"/>
          <p:cNvSpPr/>
          <p:nvPr/>
        </p:nvSpPr>
        <p:spPr>
          <a:xfrm>
            <a:off x="457200" y="1828800"/>
            <a:ext cx="8228880" cy="25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003366"/>
                </a:solidFill>
                <a:latin typeface="Calibri"/>
              </a:rPr>
              <a:t>Thank You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2401"/>
              </a:spcBef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Questions &amp; Discussion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2401"/>
              </a:spcBef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Md. Mahamudul Hasan Zubayer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Department of Computer Science &amp; Engineering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Southeast University, Dhaka, Bangladesh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950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5C97"/>
                </a:solidFill>
                <a:latin typeface="Calibri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00000" y="91440"/>
            <a:ext cx="1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88888"/>
                </a:solidFill>
                <a:latin typeface="Calibri"/>
              </a:rPr>
              <a:t>[1-13]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0000"/>
            <a:ext cx="876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50"/>
              </a:spcBef>
            </a:pPr>
            <a:r>
              <a:rPr sz="900">
                <a:solidFill>
                  <a:srgbClr val="222222"/>
                </a:solidFill>
                <a:latin typeface="Calibri"/>
              </a:rPr>
              <a:t>[1] El-Sayed, M.S. et al., "InSDN: A Novel SDN Intrusion Dataset," IEEE Access, vol. 8, pp. 165263-165284, 2020.</a:t>
            </a:r>
          </a:p>
          <a:p>
            <a:pPr>
              <a:spcBef>
                <a:spcPts val="350"/>
              </a:spcBef>
            </a:pPr>
            <a:r>
              <a:rPr sz="900">
                <a:solidFill>
                  <a:srgbClr val="222222"/>
                </a:solidFill>
                <a:latin typeface="Calibri"/>
              </a:rPr>
              <a:t>[2] Khan, A. et al., "MITM-Defender: A Real-Time Defense System Against MITM Attacks in SDN," Proc. IEEE ICC, 2021.</a:t>
            </a:r>
          </a:p>
          <a:p>
            <a:pPr>
              <a:spcBef>
                <a:spcPts val="350"/>
              </a:spcBef>
            </a:pPr>
            <a:r>
              <a:rPr sz="900">
                <a:solidFill>
                  <a:srgbClr val="222222"/>
                </a:solidFill>
                <a:latin typeface="Calibri"/>
              </a:rPr>
              <a:t>[3] Liang, Y. et al., "A Review of Intrusion Detection Approaches in SDN," J. Information Security &amp; Applications, vol. 59, 2021.</a:t>
            </a:r>
          </a:p>
          <a:p>
            <a:pPr>
              <a:spcBef>
                <a:spcPts val="350"/>
              </a:spcBef>
            </a:pPr>
            <a:r>
              <a:rPr sz="900">
                <a:solidFill>
                  <a:srgbClr val="222222"/>
                </a:solidFill>
                <a:latin typeface="Calibri"/>
              </a:rPr>
              <a:t>[4] Malik, S. &amp; Habib, M., "Detection and Mitigation of DoS Attacks in SDN: Lightweight Agent-Based Model," Security and Privacy, vol. 4, 2021.</a:t>
            </a:r>
          </a:p>
          <a:p>
            <a:pPr>
              <a:spcBef>
                <a:spcPts val="350"/>
              </a:spcBef>
            </a:pPr>
            <a:r>
              <a:rPr sz="900">
                <a:solidFill>
                  <a:srgbClr val="222222"/>
                </a:solidFill>
                <a:latin typeface="Calibri"/>
              </a:rPr>
              <a:t>[5] Ahmad, Z. et al., "Network Intrusion Detection System: A Systematic Study of ML and DL Approaches," Trans. Emerging Telecom. Tech., vol. 32, 2021.</a:t>
            </a:r>
          </a:p>
          <a:p>
            <a:pPr>
              <a:spcBef>
                <a:spcPts val="350"/>
              </a:spcBef>
            </a:pPr>
            <a:r>
              <a:rPr sz="900">
                <a:solidFill>
                  <a:srgbClr val="222222"/>
                </a:solidFill>
                <a:latin typeface="Calibri"/>
              </a:rPr>
              <a:t>[6] Rahman, M.M. et al., "Blockchain Integration in SDN: Opportunities and Challenges," J. Network &amp; Computer Applications, vol. 201, 2022.</a:t>
            </a:r>
          </a:p>
          <a:p>
            <a:pPr>
              <a:spcBef>
                <a:spcPts val="350"/>
              </a:spcBef>
            </a:pPr>
            <a:r>
              <a:rPr sz="900">
                <a:solidFill>
                  <a:srgbClr val="222222"/>
                </a:solidFill>
                <a:latin typeface="Calibri"/>
              </a:rPr>
              <a:t>[7] Zhou, H., Liu, Z. &amp; Yang, J., "SecureMatch: Efficient Cryptographic Rule Matching for SDN," IEEE Trans. Dependable &amp; Secure Computing, vol. 19, pp. 2345-2358, 2022.</a:t>
            </a:r>
          </a:p>
          <a:p>
            <a:pPr>
              <a:spcBef>
                <a:spcPts val="350"/>
              </a:spcBef>
            </a:pPr>
            <a:r>
              <a:rPr sz="900">
                <a:solidFill>
                  <a:srgbClr val="222222"/>
                </a:solidFill>
                <a:latin typeface="Calibri"/>
              </a:rPr>
              <a:t>[8] Ahmed, Z. &amp; Haque, M., "A Modular HMAC-based Framework for Flow Verification in SDN," Intl J. Network Management, vol. 33, 2023.</a:t>
            </a:r>
          </a:p>
          <a:p>
            <a:pPr>
              <a:spcBef>
                <a:spcPts val="350"/>
              </a:spcBef>
            </a:pPr>
            <a:r>
              <a:rPr sz="900">
                <a:solidFill>
                  <a:srgbClr val="222222"/>
                </a:solidFill>
                <a:latin typeface="Calibri"/>
              </a:rPr>
              <a:t>[9] Lopes, I.O. et al., "Network Intrusion Detection Based on the Temporal Convolutional Model," Computers &amp; Security, vol. 135, 2023.</a:t>
            </a:r>
          </a:p>
          <a:p>
            <a:pPr>
              <a:spcBef>
                <a:spcPts val="350"/>
              </a:spcBef>
            </a:pPr>
            <a:r>
              <a:rPr sz="900">
                <a:solidFill>
                  <a:srgbClr val="222222"/>
                </a:solidFill>
                <a:latin typeface="Calibri"/>
              </a:rPr>
              <a:t>[10] Poorazad, A. et al., "A Blockchain-Based Deep Learning IDS for SDN-Enabled IIoT," Ad Hoc Networks, vol. 145, 2023.</a:t>
            </a:r>
          </a:p>
          <a:p>
            <a:pPr>
              <a:spcBef>
                <a:spcPts val="350"/>
              </a:spcBef>
            </a:pPr>
            <a:r>
              <a:rPr sz="900">
                <a:solidFill>
                  <a:srgbClr val="222222"/>
                </a:solidFill>
                <a:latin typeface="Calibri"/>
              </a:rPr>
              <a:t>[11] Pradeep, M. et al., "EnsureS: Lightweight High-Performance Service Path Rule Verification in SDN," Computer Networks, vol. 235, 2023.</a:t>
            </a:r>
          </a:p>
          <a:p>
            <a:pPr>
              <a:spcBef>
                <a:spcPts val="350"/>
              </a:spcBef>
            </a:pPr>
            <a:r>
              <a:rPr sz="900">
                <a:solidFill>
                  <a:srgbClr val="222222"/>
                </a:solidFill>
                <a:latin typeface="Calibri"/>
              </a:rPr>
              <a:t>[12] Said, R.B. et al., "CNN-BiLSTM: A Hybrid Deep Learning Approach for NIDS in SDN with Hybrid Feature Selection," IEEE Access, vol. 11, 2023.</a:t>
            </a:r>
          </a:p>
          <a:p>
            <a:pPr>
              <a:spcBef>
                <a:spcPts val="350"/>
              </a:spcBef>
            </a:pPr>
            <a:r>
              <a:rPr sz="900">
                <a:solidFill>
                  <a:srgbClr val="222222"/>
                </a:solidFill>
                <a:latin typeface="Calibri"/>
              </a:rPr>
              <a:t>[13] Sharma, R. &amp; Tyagi, S., "A Lightweight IDS Framework for SDN Using Adaptive Anomaly Detection," Computers &amp; Security, vol. 127, 2023.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950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5C97"/>
                </a:solidFill>
                <a:latin typeface="Calibri"/>
              </a:rPr>
              <a:t>References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00000" y="91440"/>
            <a:ext cx="1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88888"/>
                </a:solidFill>
                <a:latin typeface="Calibri"/>
              </a:rPr>
              <a:t>[14-25]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00000"/>
            <a:ext cx="876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50"/>
              </a:spcBef>
            </a:pPr>
            <a:r>
              <a:rPr sz="900">
                <a:solidFill>
                  <a:srgbClr val="222222"/>
                </a:solidFill>
                <a:latin typeface="Calibri"/>
              </a:rPr>
              <a:t>[14] Song, Y., Lu, X. &amp; Wang, Z., "Intent-Driven Secure SDN Using Blockchain," IEEE Trans. Network &amp; Service Management, vol. 20, 2023.</a:t>
            </a:r>
          </a:p>
          <a:p>
            <a:pPr>
              <a:spcBef>
                <a:spcPts val="350"/>
              </a:spcBef>
            </a:pPr>
            <a:r>
              <a:rPr sz="900">
                <a:solidFill>
                  <a:srgbClr val="222222"/>
                </a:solidFill>
                <a:latin typeface="Calibri"/>
              </a:rPr>
              <a:t>[15] Ataa, M.S. et al., "Intrusion Detection in SDN Using Deep Learning Approaches," Scientific Reports, vol. 14, 2024.</a:t>
            </a:r>
          </a:p>
          <a:p>
            <a:pPr>
              <a:spcBef>
                <a:spcPts val="350"/>
              </a:spcBef>
            </a:pPr>
            <a:r>
              <a:rPr sz="900">
                <a:solidFill>
                  <a:srgbClr val="222222"/>
                </a:solidFill>
                <a:latin typeface="Calibri"/>
              </a:rPr>
              <a:t>[16] Deng, M. et al., "Network Intrusion Detection with Multi-Layer BiTCN and Multi-Headed Self-Attention Mechanisms," Proc. IEEE, 2024.</a:t>
            </a:r>
          </a:p>
          <a:p>
            <a:pPr>
              <a:spcBef>
                <a:spcPts val="350"/>
              </a:spcBef>
            </a:pPr>
            <a:r>
              <a:rPr sz="900">
                <a:solidFill>
                  <a:srgbClr val="222222"/>
                </a:solidFill>
                <a:latin typeface="Calibri"/>
              </a:rPr>
              <a:t>[17] Yang, J., "A New Attacks Intrusion Detection Model Based on Deep Learning in SDN Environments," Proc. IEEE MLISE, 2024.</a:t>
            </a:r>
          </a:p>
          <a:p>
            <a:pPr>
              <a:spcBef>
                <a:spcPts val="350"/>
              </a:spcBef>
            </a:pPr>
            <a:r>
              <a:rPr sz="900">
                <a:solidFill>
                  <a:srgbClr val="222222"/>
                </a:solidFill>
                <a:latin typeface="Calibri"/>
              </a:rPr>
              <a:t>[18] Ayad, S. et al., "Leveraging ML Techniques for Intrusion Detection in SDN," J. Interconnection Networks, 2025.</a:t>
            </a:r>
          </a:p>
          <a:p>
            <a:pPr>
              <a:spcBef>
                <a:spcPts val="350"/>
              </a:spcBef>
            </a:pPr>
            <a:r>
              <a:rPr sz="900">
                <a:solidFill>
                  <a:srgbClr val="222222"/>
                </a:solidFill>
                <a:latin typeface="Calibri"/>
              </a:rPr>
              <a:t>[19] Basfar, R. et al., "An Incremental LSTM Ensemble for Online Intrusion Detection in SDN," Intl J. Advanced CS &amp; Applications, vol. 16, 2025.</a:t>
            </a:r>
          </a:p>
          <a:p>
            <a:pPr>
              <a:spcBef>
                <a:spcPts val="350"/>
              </a:spcBef>
            </a:pPr>
            <a:r>
              <a:rPr sz="900">
                <a:solidFill>
                  <a:srgbClr val="222222"/>
                </a:solidFill>
                <a:latin typeface="Calibri"/>
              </a:rPr>
              <a:t>[20] Buruaga, J.S. et al., "Quantum-Safe Integration of TLS in SDN Networks," arXiv:2501.04368, 2025.</a:t>
            </a:r>
          </a:p>
          <a:p>
            <a:pPr>
              <a:spcBef>
                <a:spcPts val="350"/>
              </a:spcBef>
            </a:pPr>
            <a:r>
              <a:rPr sz="900">
                <a:solidFill>
                  <a:srgbClr val="222222"/>
                </a:solidFill>
                <a:latin typeface="Calibri"/>
              </a:rPr>
              <a:t>[21] Kanimozhi, R. &amp; Ramesh, P.S., "Deep Reinforcement Learning-Based IDS Scheme for SDN," Scientific Reports, vol. 15, 2025.</a:t>
            </a:r>
          </a:p>
          <a:p>
            <a:pPr>
              <a:spcBef>
                <a:spcPts val="350"/>
              </a:spcBef>
            </a:pPr>
            <a:r>
              <a:rPr sz="900">
                <a:solidFill>
                  <a:srgbClr val="222222"/>
                </a:solidFill>
                <a:latin typeface="Calibri"/>
              </a:rPr>
              <a:t>[22] Kumar, C.L. et al., "Metaparameter Optimized Hybrid Deep Learning Model for Next Gen Cybersecurity in SDN," Scientific Reports, vol. 15, 2025.</a:t>
            </a:r>
          </a:p>
          <a:p>
            <a:pPr>
              <a:spcBef>
                <a:spcPts val="350"/>
              </a:spcBef>
            </a:pPr>
            <a:r>
              <a:rPr sz="900">
                <a:solidFill>
                  <a:srgbClr val="222222"/>
                </a:solidFill>
                <a:latin typeface="Calibri"/>
              </a:rPr>
              <a:t>[23] Li, J. &amp; Li, L., "A Lightweight NIDS Based on TCN and Attention Mechanisms," Computer Fraud &amp; Security, 2025.</a:t>
            </a:r>
          </a:p>
          <a:p>
            <a:pPr>
              <a:spcBef>
                <a:spcPts val="350"/>
              </a:spcBef>
            </a:pPr>
            <a:r>
              <a:rPr sz="900">
                <a:solidFill>
                  <a:srgbClr val="222222"/>
                </a:solidFill>
                <a:latin typeface="Calibri"/>
              </a:rPr>
              <a:t>[24] Shihab, D. et al., "Optimized Hybrid CNN-LSTM Framework with SMOTE for IDS in SDN," AlKadhim J. Computer Science, vol. 3, 2025.</a:t>
            </a:r>
          </a:p>
          <a:p>
            <a:pPr>
              <a:spcBef>
                <a:spcPts val="350"/>
              </a:spcBef>
            </a:pPr>
            <a:r>
              <a:rPr sz="900">
                <a:solidFill>
                  <a:srgbClr val="222222"/>
                </a:solidFill>
                <a:latin typeface="Calibri"/>
              </a:rPr>
              <a:t>[25] Wang, Z. et al., "SDN Anomalous Traffic Detection Based on Temporal Convolutional Network," Applied Sciences, vol. 15, 2025.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2026-02-26T00:53:16Z</dcterms:modified>
  <cp:revision>16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